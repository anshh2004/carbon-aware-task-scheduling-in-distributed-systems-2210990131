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1" r:id="rId6"/>
    <p:sldId id="262" r:id="rId7"/>
    <p:sldId id="263" r:id="rId8"/>
    <p:sldId id="268" r:id="rId9"/>
    <p:sldId id="269" r:id="rId10"/>
    <p:sldId id="271" r:id="rId11"/>
    <p:sldId id="275" r:id="rId12"/>
    <p:sldId id="270" r:id="rId13"/>
    <p:sldId id="272" r:id="rId14"/>
    <p:sldId id="273" r:id="rId15"/>
    <p:sldId id="274" r:id="rId16"/>
    <p:sldId id="267" r:id="rId17"/>
  </p:sldIdLst>
  <p:sldSz cx="12192000" cy="6858000"/>
  <p:notesSz cx="7559675" cy="106918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gHQ2jbF+TbJoLz8AoWS9kB4qPVE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AA7B5B-5B1E-4467-A408-753182302D6A}" v="59" dt="2026-03-24T19:13:01.5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 Id="rId27"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276600" cy="53657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4281488" y="0"/>
            <a:ext cx="3276600" cy="536575"/>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10155238"/>
            <a:ext cx="3276600" cy="536575"/>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 name="Google Shape;80;p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 name="Google Shape;81;p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
        <p:nvSpPr>
          <p:cNvPr id="82" name="Google Shape;82;p1:notes"/>
          <p:cNvSpPr txBox="1">
            <a:spLocks noGrp="1"/>
          </p:cNvSpPr>
          <p:nvPr>
            <p:ph type="ftr" idx="11"/>
          </p:nvPr>
        </p:nvSpPr>
        <p:spPr>
          <a:xfrm>
            <a:off x="0" y="10155238"/>
            <a:ext cx="3276600" cy="536575"/>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0"/>
              </a:spcAft>
              <a:buNone/>
            </a:pPr>
            <a:r>
              <a:rPr lang="en-US"/>
              <a:t>Name of the faculty [Group: G00] [Sem:2nd]</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3: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42e7a972ef_1_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42e7a972ef_1_3: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1" name="Google Shape;101;g342e7a972ef_1_3: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42e7a972ef_1_1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42e7a972ef_1_18: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 name="Google Shape;115;g342e7a972ef_1_18: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42e7a972ef_1_2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42e7a972ef_1_25: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g342e7a972ef_1_25: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42e7a972ef_1_3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342e7a972ef_1_32: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g342e7a972ef_1_32: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9: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p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1"/>
        <p:cNvGrpSpPr/>
        <p:nvPr/>
      </p:nvGrpSpPr>
      <p:grpSpPr>
        <a:xfrm>
          <a:off x="0" y="0"/>
          <a:ext cx="0" cy="0"/>
          <a:chOff x="0" y="0"/>
          <a:chExt cx="0" cy="0"/>
        </a:xfrm>
      </p:grpSpPr>
      <p:sp>
        <p:nvSpPr>
          <p:cNvPr id="32" name="Google Shape;32;p12"/>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2"/>
          <p:cNvSpPr txBox="1">
            <a:spLocks noGrp="1"/>
          </p:cNvSpPr>
          <p:nvPr>
            <p:ph type="subTitle" idx="1"/>
          </p:nvPr>
        </p:nvSpPr>
        <p:spPr>
          <a:xfrm>
            <a:off x="609600" y="1604520"/>
            <a:ext cx="10972320" cy="397728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13"/>
          <p:cNvSpPr txBox="1">
            <a:spLocks noGrp="1"/>
          </p:cNvSpPr>
          <p:nvPr>
            <p:ph type="body" idx="1"/>
          </p:nvPr>
        </p:nvSpPr>
        <p:spPr>
          <a:xfrm>
            <a:off x="609600" y="1604520"/>
            <a:ext cx="10972320" cy="397728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7"/>
        <p:cNvGrpSpPr/>
        <p:nvPr/>
      </p:nvGrpSpPr>
      <p:grpSpPr>
        <a:xfrm>
          <a:off x="0" y="0"/>
          <a:ext cx="0" cy="0"/>
          <a:chOff x="0" y="0"/>
          <a:chExt cx="0" cy="0"/>
        </a:xfrm>
      </p:grpSpPr>
      <p:sp>
        <p:nvSpPr>
          <p:cNvPr id="38" name="Google Shape;38;p14"/>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14"/>
          <p:cNvSpPr txBox="1">
            <a:spLocks noGrp="1"/>
          </p:cNvSpPr>
          <p:nvPr>
            <p:ph type="body" idx="1"/>
          </p:nvPr>
        </p:nvSpPr>
        <p:spPr>
          <a:xfrm>
            <a:off x="609600" y="1604520"/>
            <a:ext cx="5354400" cy="397728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40" name="Google Shape;40;p14"/>
          <p:cNvSpPr txBox="1">
            <a:spLocks noGrp="1"/>
          </p:cNvSpPr>
          <p:nvPr>
            <p:ph type="body" idx="2"/>
          </p:nvPr>
        </p:nvSpPr>
        <p:spPr>
          <a:xfrm>
            <a:off x="6232320" y="1604520"/>
            <a:ext cx="5354400" cy="397728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1"/>
        <p:cNvGrpSpPr/>
        <p:nvPr/>
      </p:nvGrpSpPr>
      <p:grpSpPr>
        <a:xfrm>
          <a:off x="0" y="0"/>
          <a:ext cx="0" cy="0"/>
          <a:chOff x="0" y="0"/>
          <a:chExt cx="0" cy="0"/>
        </a:xfrm>
      </p:grpSpPr>
      <p:sp>
        <p:nvSpPr>
          <p:cNvPr id="42" name="Google Shape;42;p15"/>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3"/>
        <p:cNvGrpSpPr/>
        <p:nvPr/>
      </p:nvGrpSpPr>
      <p:grpSpPr>
        <a:xfrm>
          <a:off x="0" y="0"/>
          <a:ext cx="0" cy="0"/>
          <a:chOff x="0" y="0"/>
          <a:chExt cx="0" cy="0"/>
        </a:xfrm>
      </p:grpSpPr>
      <p:sp>
        <p:nvSpPr>
          <p:cNvPr id="44" name="Google Shape;44;p16"/>
          <p:cNvSpPr txBox="1">
            <a:spLocks noGrp="1"/>
          </p:cNvSpPr>
          <p:nvPr>
            <p:ph type="subTitle" idx="1"/>
          </p:nvPr>
        </p:nvSpPr>
        <p:spPr>
          <a:xfrm>
            <a:off x="0" y="0"/>
            <a:ext cx="7314720" cy="423828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5"/>
        <p:cNvGrpSpPr/>
        <p:nvPr/>
      </p:nvGrpSpPr>
      <p:grpSpPr>
        <a:xfrm>
          <a:off x="0" y="0"/>
          <a:ext cx="0" cy="0"/>
          <a:chOff x="0" y="0"/>
          <a:chExt cx="0" cy="0"/>
        </a:xfrm>
      </p:grpSpPr>
      <p:sp>
        <p:nvSpPr>
          <p:cNvPr id="46" name="Google Shape;46;p17"/>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17"/>
          <p:cNvSpPr txBox="1">
            <a:spLocks noGrp="1"/>
          </p:cNvSpPr>
          <p:nvPr>
            <p:ph type="body" idx="1"/>
          </p:nvPr>
        </p:nvSpPr>
        <p:spPr>
          <a:xfrm>
            <a:off x="609600" y="160452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48" name="Google Shape;48;p17"/>
          <p:cNvSpPr txBox="1">
            <a:spLocks noGrp="1"/>
          </p:cNvSpPr>
          <p:nvPr>
            <p:ph type="body" idx="2"/>
          </p:nvPr>
        </p:nvSpPr>
        <p:spPr>
          <a:xfrm>
            <a:off x="6232320" y="1604520"/>
            <a:ext cx="5354400" cy="397728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49" name="Google Shape;49;p17"/>
          <p:cNvSpPr txBox="1">
            <a:spLocks noGrp="1"/>
          </p:cNvSpPr>
          <p:nvPr>
            <p:ph type="body" idx="3"/>
          </p:nvPr>
        </p:nvSpPr>
        <p:spPr>
          <a:xfrm>
            <a:off x="609600" y="368208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50"/>
        <p:cNvGrpSpPr/>
        <p:nvPr/>
      </p:nvGrpSpPr>
      <p:grpSpPr>
        <a:xfrm>
          <a:off x="0" y="0"/>
          <a:ext cx="0" cy="0"/>
          <a:chOff x="0" y="0"/>
          <a:chExt cx="0" cy="0"/>
        </a:xfrm>
      </p:grpSpPr>
      <p:sp>
        <p:nvSpPr>
          <p:cNvPr id="51" name="Google Shape;51;p18"/>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18"/>
          <p:cNvSpPr txBox="1">
            <a:spLocks noGrp="1"/>
          </p:cNvSpPr>
          <p:nvPr>
            <p:ph type="body" idx="1"/>
          </p:nvPr>
        </p:nvSpPr>
        <p:spPr>
          <a:xfrm>
            <a:off x="609600" y="1604520"/>
            <a:ext cx="5354400" cy="397728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53" name="Google Shape;53;p18"/>
          <p:cNvSpPr txBox="1">
            <a:spLocks noGrp="1"/>
          </p:cNvSpPr>
          <p:nvPr>
            <p:ph type="body" idx="2"/>
          </p:nvPr>
        </p:nvSpPr>
        <p:spPr>
          <a:xfrm>
            <a:off x="6232320" y="160452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54" name="Google Shape;54;p18"/>
          <p:cNvSpPr txBox="1">
            <a:spLocks noGrp="1"/>
          </p:cNvSpPr>
          <p:nvPr>
            <p:ph type="body" idx="3"/>
          </p:nvPr>
        </p:nvSpPr>
        <p:spPr>
          <a:xfrm>
            <a:off x="6232320" y="368208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55"/>
        <p:cNvGrpSpPr/>
        <p:nvPr/>
      </p:nvGrpSpPr>
      <p:grpSpPr>
        <a:xfrm>
          <a:off x="0" y="0"/>
          <a:ext cx="0" cy="0"/>
          <a:chOff x="0" y="0"/>
          <a:chExt cx="0" cy="0"/>
        </a:xfrm>
      </p:grpSpPr>
      <p:sp>
        <p:nvSpPr>
          <p:cNvPr id="56" name="Google Shape;56;p19"/>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 name="Google Shape;57;p19"/>
          <p:cNvSpPr txBox="1">
            <a:spLocks noGrp="1"/>
          </p:cNvSpPr>
          <p:nvPr>
            <p:ph type="body" idx="1"/>
          </p:nvPr>
        </p:nvSpPr>
        <p:spPr>
          <a:xfrm>
            <a:off x="609600" y="160452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58" name="Google Shape;58;p19"/>
          <p:cNvSpPr txBox="1">
            <a:spLocks noGrp="1"/>
          </p:cNvSpPr>
          <p:nvPr>
            <p:ph type="body" idx="2"/>
          </p:nvPr>
        </p:nvSpPr>
        <p:spPr>
          <a:xfrm>
            <a:off x="6232320" y="160452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59" name="Google Shape;59;p19"/>
          <p:cNvSpPr txBox="1">
            <a:spLocks noGrp="1"/>
          </p:cNvSpPr>
          <p:nvPr>
            <p:ph type="body" idx="3"/>
          </p:nvPr>
        </p:nvSpPr>
        <p:spPr>
          <a:xfrm>
            <a:off x="609600" y="3682080"/>
            <a:ext cx="1097232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60"/>
        <p:cNvGrpSpPr/>
        <p:nvPr/>
      </p:nvGrpSpPr>
      <p:grpSpPr>
        <a:xfrm>
          <a:off x="0" y="0"/>
          <a:ext cx="0" cy="0"/>
          <a:chOff x="0" y="0"/>
          <a:chExt cx="0" cy="0"/>
        </a:xfrm>
      </p:grpSpPr>
      <p:sp>
        <p:nvSpPr>
          <p:cNvPr id="61" name="Google Shape;61;p20"/>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20"/>
          <p:cNvSpPr txBox="1">
            <a:spLocks noGrp="1"/>
          </p:cNvSpPr>
          <p:nvPr>
            <p:ph type="body" idx="1"/>
          </p:nvPr>
        </p:nvSpPr>
        <p:spPr>
          <a:xfrm>
            <a:off x="609600" y="1604520"/>
            <a:ext cx="1097232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63" name="Google Shape;63;p20"/>
          <p:cNvSpPr txBox="1">
            <a:spLocks noGrp="1"/>
          </p:cNvSpPr>
          <p:nvPr>
            <p:ph type="body" idx="2"/>
          </p:nvPr>
        </p:nvSpPr>
        <p:spPr>
          <a:xfrm>
            <a:off x="609600" y="3682080"/>
            <a:ext cx="1097232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64"/>
        <p:cNvGrpSpPr/>
        <p:nvPr/>
      </p:nvGrpSpPr>
      <p:grpSpPr>
        <a:xfrm>
          <a:off x="0" y="0"/>
          <a:ext cx="0" cy="0"/>
          <a:chOff x="0" y="0"/>
          <a:chExt cx="0" cy="0"/>
        </a:xfrm>
      </p:grpSpPr>
      <p:sp>
        <p:nvSpPr>
          <p:cNvPr id="65" name="Google Shape;65;p21"/>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 name="Google Shape;66;p21"/>
          <p:cNvSpPr txBox="1">
            <a:spLocks noGrp="1"/>
          </p:cNvSpPr>
          <p:nvPr>
            <p:ph type="body" idx="1"/>
          </p:nvPr>
        </p:nvSpPr>
        <p:spPr>
          <a:xfrm>
            <a:off x="609600" y="160452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67" name="Google Shape;67;p21"/>
          <p:cNvSpPr txBox="1">
            <a:spLocks noGrp="1"/>
          </p:cNvSpPr>
          <p:nvPr>
            <p:ph type="body" idx="2"/>
          </p:nvPr>
        </p:nvSpPr>
        <p:spPr>
          <a:xfrm>
            <a:off x="6232320" y="160452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68" name="Google Shape;68;p21"/>
          <p:cNvSpPr txBox="1">
            <a:spLocks noGrp="1"/>
          </p:cNvSpPr>
          <p:nvPr>
            <p:ph type="body" idx="3"/>
          </p:nvPr>
        </p:nvSpPr>
        <p:spPr>
          <a:xfrm>
            <a:off x="609600" y="368208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69" name="Google Shape;69;p21"/>
          <p:cNvSpPr txBox="1">
            <a:spLocks noGrp="1"/>
          </p:cNvSpPr>
          <p:nvPr>
            <p:ph type="body" idx="4"/>
          </p:nvPr>
        </p:nvSpPr>
        <p:spPr>
          <a:xfrm>
            <a:off x="6232320" y="3682080"/>
            <a:ext cx="53544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70"/>
        <p:cNvGrpSpPr/>
        <p:nvPr/>
      </p:nvGrpSpPr>
      <p:grpSpPr>
        <a:xfrm>
          <a:off x="0" y="0"/>
          <a:ext cx="0" cy="0"/>
          <a:chOff x="0" y="0"/>
          <a:chExt cx="0" cy="0"/>
        </a:xfrm>
      </p:grpSpPr>
      <p:sp>
        <p:nvSpPr>
          <p:cNvPr id="71" name="Google Shape;71;p22"/>
          <p:cNvSpPr txBox="1">
            <a:spLocks noGrp="1"/>
          </p:cNvSpPr>
          <p:nvPr>
            <p:ph type="title"/>
          </p:nvPr>
        </p:nvSpPr>
        <p:spPr>
          <a:xfrm>
            <a:off x="0" y="0"/>
            <a:ext cx="7314720" cy="91404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2"/>
          <p:cNvSpPr txBox="1">
            <a:spLocks noGrp="1"/>
          </p:cNvSpPr>
          <p:nvPr>
            <p:ph type="body" idx="1"/>
          </p:nvPr>
        </p:nvSpPr>
        <p:spPr>
          <a:xfrm>
            <a:off x="609600" y="1604520"/>
            <a:ext cx="35328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73" name="Google Shape;73;p22"/>
          <p:cNvSpPr txBox="1">
            <a:spLocks noGrp="1"/>
          </p:cNvSpPr>
          <p:nvPr>
            <p:ph type="body" idx="2"/>
          </p:nvPr>
        </p:nvSpPr>
        <p:spPr>
          <a:xfrm>
            <a:off x="4319520" y="1604520"/>
            <a:ext cx="35328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74" name="Google Shape;74;p22"/>
          <p:cNvSpPr txBox="1">
            <a:spLocks noGrp="1"/>
          </p:cNvSpPr>
          <p:nvPr>
            <p:ph type="body" idx="3"/>
          </p:nvPr>
        </p:nvSpPr>
        <p:spPr>
          <a:xfrm>
            <a:off x="8029440" y="1604520"/>
            <a:ext cx="35328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75" name="Google Shape;75;p22"/>
          <p:cNvSpPr txBox="1">
            <a:spLocks noGrp="1"/>
          </p:cNvSpPr>
          <p:nvPr>
            <p:ph type="body" idx="4"/>
          </p:nvPr>
        </p:nvSpPr>
        <p:spPr>
          <a:xfrm>
            <a:off x="609600" y="3682080"/>
            <a:ext cx="35328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76" name="Google Shape;76;p22"/>
          <p:cNvSpPr txBox="1">
            <a:spLocks noGrp="1"/>
          </p:cNvSpPr>
          <p:nvPr>
            <p:ph type="body" idx="5"/>
          </p:nvPr>
        </p:nvSpPr>
        <p:spPr>
          <a:xfrm>
            <a:off x="4319520" y="3682080"/>
            <a:ext cx="35328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
        <p:nvSpPr>
          <p:cNvPr id="77" name="Google Shape;77;p22"/>
          <p:cNvSpPr txBox="1">
            <a:spLocks noGrp="1"/>
          </p:cNvSpPr>
          <p:nvPr>
            <p:ph type="body" idx="6"/>
          </p:nvPr>
        </p:nvSpPr>
        <p:spPr>
          <a:xfrm>
            <a:off x="8029440" y="3682080"/>
            <a:ext cx="3532800" cy="1896840"/>
          </a:xfrm>
          <a:prstGeom prst="rect">
            <a:avLst/>
          </a:prstGeom>
          <a:noFill/>
          <a:ln>
            <a:noFill/>
          </a:ln>
        </p:spPr>
        <p:txBody>
          <a:bodyPr spcFirstLastPara="1" wrap="square" lIns="0" tIns="0" rIns="0" bIns="0" anchor="t" anchorCtr="0">
            <a:normAutofit/>
          </a:bodyPr>
          <a:lstStyle>
            <a:lvl1pPr marL="457189" lvl="0" indent="-342891" algn="l">
              <a:lnSpc>
                <a:spcPct val="90000"/>
              </a:lnSpc>
              <a:spcBef>
                <a:spcPts val="1000"/>
              </a:spcBef>
              <a:spcAft>
                <a:spcPts val="0"/>
              </a:spcAft>
              <a:buClr>
                <a:schemeClr val="dk1"/>
              </a:buClr>
              <a:buSzPts val="1800"/>
              <a:buChar char="•"/>
              <a:defRPr/>
            </a:lvl1pPr>
            <a:lvl2pPr marL="914377" lvl="1" indent="-342891" algn="l">
              <a:lnSpc>
                <a:spcPct val="90000"/>
              </a:lnSpc>
              <a:spcBef>
                <a:spcPts val="500"/>
              </a:spcBef>
              <a:spcAft>
                <a:spcPts val="0"/>
              </a:spcAft>
              <a:buClr>
                <a:schemeClr val="dk1"/>
              </a:buClr>
              <a:buSzPts val="1800"/>
              <a:buChar char="•"/>
              <a:defRPr/>
            </a:lvl2pPr>
            <a:lvl3pPr marL="1371566" lvl="2" indent="-342891" algn="l">
              <a:lnSpc>
                <a:spcPct val="90000"/>
              </a:lnSpc>
              <a:spcBef>
                <a:spcPts val="500"/>
              </a:spcBef>
              <a:spcAft>
                <a:spcPts val="0"/>
              </a:spcAft>
              <a:buClr>
                <a:schemeClr val="dk1"/>
              </a:buClr>
              <a:buSzPts val="1800"/>
              <a:buChar char="•"/>
              <a:defRPr/>
            </a:lvl3pPr>
            <a:lvl4pPr marL="1828754" lvl="3" indent="-342891" algn="l">
              <a:lnSpc>
                <a:spcPct val="90000"/>
              </a:lnSpc>
              <a:spcBef>
                <a:spcPts val="500"/>
              </a:spcBef>
              <a:spcAft>
                <a:spcPts val="0"/>
              </a:spcAft>
              <a:buClr>
                <a:schemeClr val="dk1"/>
              </a:buClr>
              <a:buSzPts val="1800"/>
              <a:buChar char="•"/>
              <a:defRPr/>
            </a:lvl4pPr>
            <a:lvl5pPr marL="2285943" lvl="4" indent="-342891" algn="l">
              <a:lnSpc>
                <a:spcPct val="90000"/>
              </a:lnSpc>
              <a:spcBef>
                <a:spcPts val="500"/>
              </a:spcBef>
              <a:spcAft>
                <a:spcPts val="0"/>
              </a:spcAft>
              <a:buClr>
                <a:schemeClr val="dk1"/>
              </a:buClr>
              <a:buSzPts val="1800"/>
              <a:buChar char="•"/>
              <a:defRPr/>
            </a:lvl5pPr>
            <a:lvl6pPr marL="2743131" lvl="5" indent="-342891" algn="l">
              <a:lnSpc>
                <a:spcPct val="90000"/>
              </a:lnSpc>
              <a:spcBef>
                <a:spcPts val="500"/>
              </a:spcBef>
              <a:spcAft>
                <a:spcPts val="0"/>
              </a:spcAft>
              <a:buClr>
                <a:schemeClr val="dk1"/>
              </a:buClr>
              <a:buSzPts val="1800"/>
              <a:buChar char="•"/>
              <a:defRPr/>
            </a:lvl6pPr>
            <a:lvl7pPr marL="3200320" lvl="6" indent="-342891" algn="l">
              <a:lnSpc>
                <a:spcPct val="90000"/>
              </a:lnSpc>
              <a:spcBef>
                <a:spcPts val="500"/>
              </a:spcBef>
              <a:spcAft>
                <a:spcPts val="0"/>
              </a:spcAft>
              <a:buClr>
                <a:schemeClr val="dk1"/>
              </a:buClr>
              <a:buSzPts val="1800"/>
              <a:buChar char="•"/>
              <a:defRPr/>
            </a:lvl7pPr>
            <a:lvl8pPr marL="3657509" lvl="7" indent="-342891" algn="l">
              <a:lnSpc>
                <a:spcPct val="90000"/>
              </a:lnSpc>
              <a:spcBef>
                <a:spcPts val="500"/>
              </a:spcBef>
              <a:spcAft>
                <a:spcPts val="0"/>
              </a:spcAft>
              <a:buClr>
                <a:schemeClr val="dk1"/>
              </a:buClr>
              <a:buSzPts val="1800"/>
              <a:buChar char="•"/>
              <a:defRPr/>
            </a:lvl8pPr>
            <a:lvl9pPr marL="4114697" lvl="8" indent="-342891"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sp>
        <p:nvSpPr>
          <p:cNvPr id="10" name="Google Shape;10;p10"/>
          <p:cNvSpPr/>
          <p:nvPr/>
        </p:nvSpPr>
        <p:spPr>
          <a:xfrm>
            <a:off x="0" y="0"/>
            <a:ext cx="12191520" cy="837720"/>
          </a:xfrm>
          <a:prstGeom prst="rect">
            <a:avLst/>
          </a:prstGeom>
          <a:solidFill>
            <a:srgbClr val="FF33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1" name="Google Shape;11;p10"/>
          <p:cNvSpPr/>
          <p:nvPr/>
        </p:nvSpPr>
        <p:spPr>
          <a:xfrm rot="10800000" flipH="1">
            <a:off x="0" y="6704640"/>
            <a:ext cx="12191520" cy="197640"/>
          </a:xfrm>
          <a:prstGeom prst="rect">
            <a:avLst/>
          </a:prstGeom>
          <a:solidFill>
            <a:srgbClr val="FF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pic>
        <p:nvPicPr>
          <p:cNvPr id="12" name="Google Shape;12;p10" descr="LOGO.gif"/>
          <p:cNvPicPr preferRelativeResize="0"/>
          <p:nvPr/>
        </p:nvPicPr>
        <p:blipFill rotWithShape="1">
          <a:blip r:embed="rId14">
            <a:alphaModFix/>
          </a:blip>
          <a:srcRect b="10718"/>
          <a:stretch/>
        </p:blipFill>
        <p:spPr>
          <a:xfrm>
            <a:off x="8737440" y="228600"/>
            <a:ext cx="2742720" cy="634680"/>
          </a:xfrm>
          <a:prstGeom prst="rect">
            <a:avLst/>
          </a:prstGeom>
          <a:noFill/>
          <a:ln>
            <a:noFill/>
          </a:ln>
        </p:spPr>
      </p:pic>
      <p:pic>
        <p:nvPicPr>
          <p:cNvPr id="13" name="Google Shape;13;p10" descr="LOGO.gif"/>
          <p:cNvPicPr preferRelativeResize="0"/>
          <p:nvPr/>
        </p:nvPicPr>
        <p:blipFill rotWithShape="1">
          <a:blip r:embed="rId14">
            <a:alphaModFix/>
          </a:blip>
          <a:srcRect b="10718"/>
          <a:stretch/>
        </p:blipFill>
        <p:spPr>
          <a:xfrm>
            <a:off x="8737440" y="228600"/>
            <a:ext cx="2742720" cy="634680"/>
          </a:xfrm>
          <a:prstGeom prst="rect">
            <a:avLst/>
          </a:prstGeom>
          <a:noFill/>
          <a:ln>
            <a:noFill/>
          </a:ln>
        </p:spPr>
      </p:pic>
      <p:grpSp>
        <p:nvGrpSpPr>
          <p:cNvPr id="14" name="Google Shape;14;p10"/>
          <p:cNvGrpSpPr/>
          <p:nvPr/>
        </p:nvGrpSpPr>
        <p:grpSpPr>
          <a:xfrm>
            <a:off x="8195520" y="0"/>
            <a:ext cx="3996000" cy="875880"/>
            <a:chOff x="6146640" y="0"/>
            <a:chExt cx="2997000" cy="875880"/>
          </a:xfrm>
        </p:grpSpPr>
        <p:sp>
          <p:nvSpPr>
            <p:cNvPr id="15" name="Google Shape;15;p10"/>
            <p:cNvSpPr/>
            <p:nvPr/>
          </p:nvSpPr>
          <p:spPr>
            <a:xfrm>
              <a:off x="6146640" y="0"/>
              <a:ext cx="2997000" cy="837720"/>
            </a:xfrm>
            <a:prstGeom prst="rect">
              <a:avLst/>
            </a:prstGeom>
            <a:solidFill>
              <a:srgbClr val="FF33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pic>
          <p:nvPicPr>
            <p:cNvPr id="16" name="Google Shape;16;p10" descr="LOGO.gif"/>
            <p:cNvPicPr preferRelativeResize="0"/>
            <p:nvPr/>
          </p:nvPicPr>
          <p:blipFill rotWithShape="1">
            <a:blip r:embed="rId14">
              <a:alphaModFix/>
            </a:blip>
            <a:srcRect b="10718"/>
            <a:stretch/>
          </p:blipFill>
          <p:spPr>
            <a:xfrm>
              <a:off x="6553080" y="228600"/>
              <a:ext cx="2057040" cy="634680"/>
            </a:xfrm>
            <a:prstGeom prst="rect">
              <a:avLst/>
            </a:prstGeom>
            <a:noFill/>
            <a:ln>
              <a:noFill/>
            </a:ln>
          </p:spPr>
        </p:pic>
        <p:sp>
          <p:nvSpPr>
            <p:cNvPr id="17" name="Google Shape;17;p10"/>
            <p:cNvSpPr/>
            <p:nvPr/>
          </p:nvSpPr>
          <p:spPr>
            <a:xfrm>
              <a:off x="6527880" y="190440"/>
              <a:ext cx="2076120" cy="68544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pic>
        <p:nvPicPr>
          <p:cNvPr id="18" name="Google Shape;18;p10" descr="logo.jpg"/>
          <p:cNvPicPr preferRelativeResize="0"/>
          <p:nvPr/>
        </p:nvPicPr>
        <p:blipFill rotWithShape="1">
          <a:blip r:embed="rId15">
            <a:alphaModFix/>
          </a:blip>
          <a:srcRect/>
          <a:stretch/>
        </p:blipFill>
        <p:spPr>
          <a:xfrm>
            <a:off x="8737440" y="228600"/>
            <a:ext cx="2560800" cy="609120"/>
          </a:xfrm>
          <a:prstGeom prst="rect">
            <a:avLst/>
          </a:prstGeom>
          <a:noFill/>
          <a:ln>
            <a:noFill/>
          </a:ln>
        </p:spPr>
      </p:pic>
      <p:pic>
        <p:nvPicPr>
          <p:cNvPr id="19" name="Google Shape;19;p10" descr="LOGO.gif"/>
          <p:cNvPicPr preferRelativeResize="0"/>
          <p:nvPr/>
        </p:nvPicPr>
        <p:blipFill rotWithShape="1">
          <a:blip r:embed="rId14">
            <a:alphaModFix/>
          </a:blip>
          <a:srcRect b="10718"/>
          <a:stretch/>
        </p:blipFill>
        <p:spPr>
          <a:xfrm>
            <a:off x="8737440" y="228600"/>
            <a:ext cx="2742720" cy="634680"/>
          </a:xfrm>
          <a:prstGeom prst="rect">
            <a:avLst/>
          </a:prstGeom>
          <a:noFill/>
          <a:ln>
            <a:noFill/>
          </a:ln>
        </p:spPr>
      </p:pic>
      <p:grpSp>
        <p:nvGrpSpPr>
          <p:cNvPr id="20" name="Google Shape;20;p10"/>
          <p:cNvGrpSpPr/>
          <p:nvPr/>
        </p:nvGrpSpPr>
        <p:grpSpPr>
          <a:xfrm>
            <a:off x="8195520" y="0"/>
            <a:ext cx="3996000" cy="875880"/>
            <a:chOff x="6146640" y="0"/>
            <a:chExt cx="2997000" cy="875880"/>
          </a:xfrm>
        </p:grpSpPr>
        <p:sp>
          <p:nvSpPr>
            <p:cNvPr id="21" name="Google Shape;21;p10"/>
            <p:cNvSpPr/>
            <p:nvPr/>
          </p:nvSpPr>
          <p:spPr>
            <a:xfrm>
              <a:off x="6146640" y="0"/>
              <a:ext cx="2997000" cy="837720"/>
            </a:xfrm>
            <a:prstGeom prst="rect">
              <a:avLst/>
            </a:prstGeom>
            <a:solidFill>
              <a:srgbClr val="FF33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pic>
          <p:nvPicPr>
            <p:cNvPr id="22" name="Google Shape;22;p10" descr="LOGO.gif"/>
            <p:cNvPicPr preferRelativeResize="0"/>
            <p:nvPr/>
          </p:nvPicPr>
          <p:blipFill rotWithShape="1">
            <a:blip r:embed="rId14">
              <a:alphaModFix/>
            </a:blip>
            <a:srcRect b="10718"/>
            <a:stretch/>
          </p:blipFill>
          <p:spPr>
            <a:xfrm>
              <a:off x="6553080" y="228600"/>
              <a:ext cx="2057040" cy="634680"/>
            </a:xfrm>
            <a:prstGeom prst="rect">
              <a:avLst/>
            </a:prstGeom>
            <a:noFill/>
            <a:ln>
              <a:noFill/>
            </a:ln>
          </p:spPr>
        </p:pic>
        <p:sp>
          <p:nvSpPr>
            <p:cNvPr id="23" name="Google Shape;23;p10"/>
            <p:cNvSpPr/>
            <p:nvPr/>
          </p:nvSpPr>
          <p:spPr>
            <a:xfrm>
              <a:off x="6527880" y="190440"/>
              <a:ext cx="2076120" cy="68544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pic>
        <p:nvPicPr>
          <p:cNvPr id="24" name="Google Shape;24;p10" descr="logo.jpg"/>
          <p:cNvPicPr preferRelativeResize="0"/>
          <p:nvPr/>
        </p:nvPicPr>
        <p:blipFill rotWithShape="1">
          <a:blip r:embed="rId15">
            <a:alphaModFix/>
          </a:blip>
          <a:srcRect/>
          <a:stretch/>
        </p:blipFill>
        <p:spPr>
          <a:xfrm>
            <a:off x="8737440" y="228600"/>
            <a:ext cx="2560800" cy="609120"/>
          </a:xfrm>
          <a:prstGeom prst="rect">
            <a:avLst/>
          </a:prstGeom>
          <a:noFill/>
          <a:ln>
            <a:noFill/>
          </a:ln>
        </p:spPr>
      </p:pic>
      <p:sp>
        <p:nvSpPr>
          <p:cNvPr id="25" name="Google Shape;25;p10"/>
          <p:cNvSpPr txBox="1">
            <a:spLocks noGrp="1"/>
          </p:cNvSpPr>
          <p:nvPr>
            <p:ph type="title"/>
          </p:nvPr>
        </p:nvSpPr>
        <p:spPr>
          <a:xfrm>
            <a:off x="0" y="0"/>
            <a:ext cx="8635680" cy="83772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6" name="Google Shape;26;p10"/>
          <p:cNvSpPr txBox="1">
            <a:spLocks noGrp="1"/>
          </p:cNvSpPr>
          <p:nvPr>
            <p:ph type="body" idx="1"/>
          </p:nvPr>
        </p:nvSpPr>
        <p:spPr>
          <a:xfrm>
            <a:off x="609600" y="1371600"/>
            <a:ext cx="10972320" cy="452556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7" name="Google Shape;27;p10"/>
          <p:cNvSpPr txBox="1">
            <a:spLocks noGrp="1"/>
          </p:cNvSpPr>
          <p:nvPr>
            <p:ph type="dt" idx="10"/>
          </p:nvPr>
        </p:nvSpPr>
        <p:spPr>
          <a:xfrm>
            <a:off x="609600" y="6356520"/>
            <a:ext cx="2844480" cy="36468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8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8" name="Google Shape;28;p10"/>
          <p:cNvSpPr txBox="1">
            <a:spLocks noGrp="1"/>
          </p:cNvSpPr>
          <p:nvPr>
            <p:ph type="ftr" idx="11"/>
          </p:nvPr>
        </p:nvSpPr>
        <p:spPr>
          <a:xfrm>
            <a:off x="4165440" y="6356520"/>
            <a:ext cx="3860160" cy="36468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8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9" name="Google Shape;29;p10"/>
          <p:cNvSpPr txBox="1">
            <a:spLocks noGrp="1"/>
          </p:cNvSpPr>
          <p:nvPr>
            <p:ph type="sldNum" idx="12"/>
          </p:nvPr>
        </p:nvSpPr>
        <p:spPr>
          <a:xfrm>
            <a:off x="8737440" y="6356520"/>
            <a:ext cx="284448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buNone/>
              <a:defRPr sz="1200" b="0" i="0" u="none" strike="noStrike" cap="none">
                <a:solidFill>
                  <a:srgbClr val="898989"/>
                </a:solidFill>
                <a:latin typeface="Calibri"/>
                <a:ea typeface="Calibri"/>
                <a:cs typeface="Calibri"/>
                <a:sym typeface="Calibri"/>
              </a:defRPr>
            </a:lvl1pPr>
            <a:lvl2pPr marL="0" marR="0" lvl="1" indent="0" algn="r" rtl="0">
              <a:lnSpc>
                <a:spcPct val="100000"/>
              </a:lnSpc>
              <a:spcBef>
                <a:spcPts val="0"/>
              </a:spcBef>
              <a:buNone/>
              <a:defRPr sz="1200" b="0" i="0" u="none" strike="noStrike" cap="none">
                <a:solidFill>
                  <a:srgbClr val="898989"/>
                </a:solidFill>
                <a:latin typeface="Calibri"/>
                <a:ea typeface="Calibri"/>
                <a:cs typeface="Calibri"/>
                <a:sym typeface="Calibri"/>
              </a:defRPr>
            </a:lvl2pPr>
            <a:lvl3pPr marL="0" marR="0" lvl="2" indent="0" algn="r" rtl="0">
              <a:lnSpc>
                <a:spcPct val="100000"/>
              </a:lnSpc>
              <a:spcBef>
                <a:spcPts val="0"/>
              </a:spcBef>
              <a:buNone/>
              <a:defRPr sz="1200" b="0" i="0" u="none" strike="noStrike" cap="none">
                <a:solidFill>
                  <a:srgbClr val="898989"/>
                </a:solidFill>
                <a:latin typeface="Calibri"/>
                <a:ea typeface="Calibri"/>
                <a:cs typeface="Calibri"/>
                <a:sym typeface="Calibri"/>
              </a:defRPr>
            </a:lvl3pPr>
            <a:lvl4pPr marL="0" marR="0" lvl="3" indent="0" algn="r" rtl="0">
              <a:lnSpc>
                <a:spcPct val="100000"/>
              </a:lnSpc>
              <a:spcBef>
                <a:spcPts val="0"/>
              </a:spcBef>
              <a:buNone/>
              <a:defRPr sz="1200" b="0" i="0" u="none" strike="noStrike" cap="none">
                <a:solidFill>
                  <a:srgbClr val="898989"/>
                </a:solidFill>
                <a:latin typeface="Calibri"/>
                <a:ea typeface="Calibri"/>
                <a:cs typeface="Calibri"/>
                <a:sym typeface="Calibri"/>
              </a:defRPr>
            </a:lvl4pPr>
            <a:lvl5pPr marL="0" marR="0" lvl="4" indent="0" algn="r" rtl="0">
              <a:lnSpc>
                <a:spcPct val="100000"/>
              </a:lnSpc>
              <a:spcBef>
                <a:spcPts val="0"/>
              </a:spcBef>
              <a:buNone/>
              <a:defRPr sz="1200" b="0" i="0" u="none" strike="noStrike" cap="none">
                <a:solidFill>
                  <a:srgbClr val="898989"/>
                </a:solidFill>
                <a:latin typeface="Calibri"/>
                <a:ea typeface="Calibri"/>
                <a:cs typeface="Calibri"/>
                <a:sym typeface="Calibri"/>
              </a:defRPr>
            </a:lvl5pPr>
            <a:lvl6pPr marL="0" marR="0" lvl="5" indent="0" algn="r" rtl="0">
              <a:lnSpc>
                <a:spcPct val="100000"/>
              </a:lnSpc>
              <a:spcBef>
                <a:spcPts val="0"/>
              </a:spcBef>
              <a:buNone/>
              <a:defRPr sz="1200" b="0" i="0" u="none" strike="noStrike" cap="none">
                <a:solidFill>
                  <a:srgbClr val="898989"/>
                </a:solidFill>
                <a:latin typeface="Calibri"/>
                <a:ea typeface="Calibri"/>
                <a:cs typeface="Calibri"/>
                <a:sym typeface="Calibri"/>
              </a:defRPr>
            </a:lvl6pPr>
            <a:lvl7pPr marL="0" marR="0" lvl="6" indent="0" algn="r" rtl="0">
              <a:lnSpc>
                <a:spcPct val="100000"/>
              </a:lnSpc>
              <a:spcBef>
                <a:spcPts val="0"/>
              </a:spcBef>
              <a:buNone/>
              <a:defRPr sz="1200" b="0" i="0" u="none" strike="noStrike" cap="none">
                <a:solidFill>
                  <a:srgbClr val="898989"/>
                </a:solidFill>
                <a:latin typeface="Calibri"/>
                <a:ea typeface="Calibri"/>
                <a:cs typeface="Calibri"/>
                <a:sym typeface="Calibri"/>
              </a:defRPr>
            </a:lvl7pPr>
            <a:lvl8pPr marL="0" marR="0" lvl="7" indent="0" algn="r" rtl="0">
              <a:lnSpc>
                <a:spcPct val="100000"/>
              </a:lnSpc>
              <a:spcBef>
                <a:spcPts val="0"/>
              </a:spcBef>
              <a:buNone/>
              <a:defRPr sz="1200" b="0" i="0" u="none" strike="noStrike" cap="none">
                <a:solidFill>
                  <a:srgbClr val="898989"/>
                </a:solidFill>
                <a:latin typeface="Calibri"/>
                <a:ea typeface="Calibri"/>
                <a:cs typeface="Calibri"/>
                <a:sym typeface="Calibri"/>
              </a:defRPr>
            </a:lvl8pPr>
            <a:lvl9pPr marL="0" marR="0" lvl="8" indent="0" algn="r" rtl="0">
              <a:lnSpc>
                <a:spcPct val="100000"/>
              </a:lnSpc>
              <a:spcBef>
                <a:spcPts val="0"/>
              </a:spcBef>
              <a:buNone/>
              <a:defRPr sz="1200" b="0" i="0" u="none" strike="noStrike" cap="none">
                <a:solidFill>
                  <a:srgbClr val="898989"/>
                </a:solidFill>
                <a:latin typeface="Calibri"/>
                <a:ea typeface="Calibri"/>
                <a:cs typeface="Calibri"/>
                <a:sym typeface="Calibri"/>
              </a:defRPr>
            </a:lvl9pPr>
          </a:lstStyle>
          <a:p>
            <a:fld id="{00000000-1234-1234-1234-123412341234}" type="slidenum">
              <a:rPr lang="en-US" smtClean="0"/>
              <a:pPr/>
              <a:t>‹#›</a:t>
            </a:fld>
            <a:endParaRPr lang="en-US">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p:nvPr/>
        </p:nvSpPr>
        <p:spPr>
          <a:xfrm>
            <a:off x="1524000" y="632573"/>
            <a:ext cx="9144000" cy="5872500"/>
          </a:xfrm>
          <a:prstGeom prst="rect">
            <a:avLst/>
          </a:prstGeom>
          <a:noFill/>
          <a:ln>
            <a:noFill/>
          </a:ln>
        </p:spPr>
        <p:txBody>
          <a:bodyPr spcFirstLastPara="1" wrap="square" lIns="91425" tIns="45700" rIns="91425" bIns="45700" anchor="t" anchorCtr="0">
            <a:noAutofit/>
          </a:bodyPr>
          <a:lstStyle/>
          <a:p>
            <a:pPr algn="ctr"/>
            <a:endParaRPr sz="1800" b="1" dirty="0">
              <a:solidFill>
                <a:schemeClr val="dk1"/>
              </a:solidFill>
              <a:latin typeface="Times New Roman"/>
              <a:ea typeface="Times New Roman"/>
              <a:cs typeface="Times New Roman"/>
              <a:sym typeface="Times New Roman"/>
            </a:endParaRPr>
          </a:p>
          <a:p>
            <a:pPr algn="ctr">
              <a:spcBef>
                <a:spcPts val="400"/>
              </a:spcBef>
            </a:pPr>
            <a:r>
              <a:rPr lang="en-IN" sz="4000" dirty="0">
                <a:latin typeface="Times New Roman" panose="02020603050405020304" pitchFamily="18" charset="0"/>
                <a:cs typeface="Times New Roman" panose="02020603050405020304" pitchFamily="18" charset="0"/>
              </a:rPr>
              <a:t>Carbon-Aware Task Scheduling</a:t>
            </a: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Reducing AI Carbon Emissions</a:t>
            </a:r>
          </a:p>
          <a:p>
            <a:pPr algn="ctr">
              <a:spcBef>
                <a:spcPts val="400"/>
              </a:spcBef>
            </a:pPr>
            <a:br>
              <a:rPr lang="en-IN" sz="4000" dirty="0"/>
            </a:br>
            <a:br>
              <a:rPr lang="en-IN" sz="4000" dirty="0"/>
            </a:br>
            <a:r>
              <a:rPr lang="en-US" sz="2400" dirty="0">
                <a:latin typeface="Times New Roman"/>
                <a:ea typeface="Times New Roman"/>
                <a:cs typeface="Times New Roman"/>
                <a:sym typeface="Times New Roman"/>
              </a:rPr>
              <a:t>Ansh Bansal – 2210990131</a:t>
            </a:r>
            <a:br>
              <a:rPr lang="en-US" sz="2000" dirty="0">
                <a:latin typeface="Times New Roman"/>
                <a:ea typeface="Times New Roman"/>
                <a:cs typeface="Times New Roman"/>
                <a:sym typeface="Times New Roman"/>
              </a:rPr>
            </a:br>
            <a:br>
              <a:rPr lang="en-US" sz="2000" dirty="0">
                <a:latin typeface="Times New Roman"/>
                <a:ea typeface="Times New Roman"/>
                <a:cs typeface="Times New Roman"/>
                <a:sym typeface="Times New Roman"/>
              </a:rPr>
            </a:br>
            <a:endParaRPr lang="en-US" sz="2000" dirty="0">
              <a:latin typeface="Times New Roman"/>
              <a:ea typeface="Times New Roman"/>
              <a:cs typeface="Times New Roman"/>
              <a:sym typeface="Times New Roman"/>
            </a:endParaRPr>
          </a:p>
          <a:p>
            <a:pPr algn="ctr">
              <a:spcBef>
                <a:spcPts val="400"/>
              </a:spcBef>
            </a:pPr>
            <a:r>
              <a:rPr lang="en-US" sz="2000" dirty="0">
                <a:latin typeface="Times New Roman"/>
                <a:ea typeface="Times New Roman"/>
                <a:cs typeface="Times New Roman"/>
                <a:sym typeface="Times New Roman"/>
              </a:rPr>
              <a:t>Supervised By</a:t>
            </a:r>
            <a:endParaRPr lang="en-US" sz="1100" dirty="0">
              <a:latin typeface="Times New Roman"/>
              <a:ea typeface="Times New Roman"/>
              <a:cs typeface="Times New Roman"/>
              <a:sym typeface="Times New Roman"/>
            </a:endParaRPr>
          </a:p>
          <a:p>
            <a:pPr algn="ctr">
              <a:spcBef>
                <a:spcPts val="400"/>
              </a:spcBef>
            </a:pPr>
            <a:r>
              <a:rPr lang="en-US" sz="2000" dirty="0">
                <a:latin typeface="Times New Roman"/>
                <a:ea typeface="Times New Roman"/>
                <a:cs typeface="Times New Roman"/>
                <a:sym typeface="Times New Roman"/>
              </a:rPr>
              <a:t>Dr. Gurpreet Singh</a:t>
            </a:r>
            <a:endParaRPr lang="en-US" sz="2000" dirty="0">
              <a:solidFill>
                <a:schemeClr val="dk1"/>
              </a:solidFill>
              <a:latin typeface="Times New Roman"/>
              <a:ea typeface="Times New Roman"/>
              <a:cs typeface="Times New Roman"/>
              <a:sym typeface="Times New Roman"/>
            </a:endParaRPr>
          </a:p>
          <a:p>
            <a:pPr algn="ctr">
              <a:spcBef>
                <a:spcPts val="400"/>
              </a:spcBef>
            </a:pPr>
            <a:r>
              <a:rPr lang="en-US" sz="2400" dirty="0">
                <a:solidFill>
                  <a:schemeClr val="dk1"/>
                </a:solidFill>
                <a:latin typeface="Times New Roman"/>
                <a:ea typeface="Times New Roman"/>
                <a:cs typeface="Times New Roman"/>
                <a:sym typeface="Times New Roman"/>
              </a:rPr>
              <a:t>Department of Computer Science and Engineering, </a:t>
            </a:r>
            <a:endParaRPr lang="en-US" sz="1100" dirty="0">
              <a:latin typeface="Times New Roman"/>
              <a:ea typeface="Times New Roman"/>
              <a:cs typeface="Times New Roman"/>
              <a:sym typeface="Times New Roman"/>
            </a:endParaRPr>
          </a:p>
          <a:p>
            <a:pPr algn="ctr">
              <a:spcBef>
                <a:spcPts val="400"/>
              </a:spcBef>
            </a:pPr>
            <a:r>
              <a:rPr lang="en-US" sz="2400" dirty="0">
                <a:solidFill>
                  <a:schemeClr val="dk1"/>
                </a:solidFill>
                <a:latin typeface="Times New Roman"/>
                <a:ea typeface="Times New Roman"/>
                <a:cs typeface="Times New Roman"/>
                <a:sym typeface="Times New Roman"/>
              </a:rPr>
              <a:t>Chitkara University, Punjab</a:t>
            </a:r>
            <a:endParaRPr lang="en-US" sz="1100" dirty="0">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2"/>
          <p:cNvSpPr txBox="1"/>
          <p:nvPr/>
        </p:nvSpPr>
        <p:spPr>
          <a:xfrm>
            <a:off x="500592" y="0"/>
            <a:ext cx="5063067" cy="837720"/>
          </a:xfrm>
          <a:prstGeom prst="rect">
            <a:avLst/>
          </a:prstGeom>
          <a:noFill/>
          <a:ln>
            <a:noFill/>
          </a:ln>
        </p:spPr>
        <p:txBody>
          <a:bodyPr spcFirstLastPara="1" wrap="square" lIns="91425" tIns="45700" rIns="91425" bIns="45700" anchor="ctr" anchorCtr="0">
            <a:noAutofit/>
          </a:bodyPr>
          <a:lstStyle/>
          <a:p>
            <a:pPr algn="l">
              <a:defRPr sz="2800" b="1">
                <a:latin typeface="Arial"/>
              </a:defRPr>
            </a:pPr>
            <a:r>
              <a:rPr lang="en-IN" sz="3200" dirty="0">
                <a:latin typeface="Times New Roman" panose="02020603050405020304" pitchFamily="18" charset="0"/>
                <a:cs typeface="Times New Roman" panose="02020603050405020304" pitchFamily="18" charset="0"/>
              </a:rPr>
              <a:t> Title Slide</a:t>
            </a:r>
            <a:endParaRPr sz="3200" dirty="0">
              <a:latin typeface="Times New Roman" panose="02020603050405020304" pitchFamily="18" charset="0"/>
              <a:cs typeface="Times New Roman" panose="02020603050405020304" pitchFamily="18" charset="0"/>
            </a:endParaRPr>
          </a:p>
        </p:txBody>
      </p:sp>
      <p:sp>
        <p:nvSpPr>
          <p:cNvPr id="90" name="Google Shape;90;p2"/>
          <p:cNvSpPr txBox="1"/>
          <p:nvPr/>
        </p:nvSpPr>
        <p:spPr>
          <a:xfrm>
            <a:off x="8077080" y="2546349"/>
            <a:ext cx="2133360" cy="4174851"/>
          </a:xfrm>
          <a:prstGeom prst="rect">
            <a:avLst/>
          </a:prstGeom>
          <a:noFill/>
          <a:ln>
            <a:noFill/>
          </a:ln>
        </p:spPr>
        <p:txBody>
          <a:bodyPr spcFirstLastPara="1" wrap="square" lIns="91425" tIns="45700" rIns="91425" bIns="45700" anchor="ctr" anchorCtr="0">
            <a:noAutofit/>
          </a:bodyPr>
          <a:lstStyle/>
          <a:p>
            <a:pPr algn="r"/>
            <a:endParaRPr sz="1200" dirty="0">
              <a:solidFill>
                <a:schemeClr val="dk1"/>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D7DEFFAF-7731-7695-199C-8772E9B7EEB0}"/>
              </a:ext>
            </a:extLst>
          </p:cNvPr>
          <p:cNvSpPr txBox="1"/>
          <p:nvPr/>
        </p:nvSpPr>
        <p:spPr>
          <a:xfrm>
            <a:off x="500592" y="965778"/>
            <a:ext cx="9960525" cy="5509200"/>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This presentation explores the concept of carbon-aware task scheduling within distributed computing systems, with a specific focus on reducing the environmental impact of large-scale AI workloads. As modern artificial intelligence models require significant computational power, they consume vast amounts of electricity, much of which is generated from carbon-intensive sources.</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The core idea behind this research is to shift from traditional performance-driven scheduling to environmentally conscious scheduling. Instead of executing tasks immediately, the system intelligently determines the optimal time to run them based on real-time electricity grid conditions. Since the carbon intensity of electricity fluctuates throughout the day depending on the mix of energy sources—such as renewable energy versus fossil fuels—this approach allows tasks to be executed when cleaner energy is available.</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By integrating live carbon intensity data into scheduling decisions, the system ensures that high-energy tasks are aligned with periods of lower environmental impact. Importantly, this method does not require any changes to existing hardware infrastructure. It is purely a software-based solution, making it cost-effective, scalable, and easy to adopt.</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Overall, this approach demonstrates that significant reductions in carbon emissions can be achieved simply by being more flexible with execution timing, offering a practical pathway toward more sustainable and responsible computing.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3"/>
          <p:cNvSpPr txBox="1">
            <a:spLocks noGrp="1"/>
          </p:cNvSpPr>
          <p:nvPr>
            <p:ph type="title"/>
          </p:nvPr>
        </p:nvSpPr>
        <p:spPr>
          <a:xfrm>
            <a:off x="489389" y="0"/>
            <a:ext cx="6511637" cy="914040"/>
          </a:xfrm>
          <a:prstGeom prst="rect">
            <a:avLst/>
          </a:prstGeom>
          <a:noFill/>
          <a:ln>
            <a:noFill/>
          </a:ln>
        </p:spPr>
        <p:txBody>
          <a:bodyPr spcFirstLastPara="1" wrap="square" lIns="0" tIns="0" rIns="0" bIns="0" anchor="ctr" anchorCtr="0">
            <a:noAutofit/>
          </a:bodyPr>
          <a:lstStyle/>
          <a:p>
            <a:pPr algn="l">
              <a:defRPr sz="2800" b="1">
                <a:latin typeface="Arial"/>
              </a:defRPr>
            </a:pPr>
            <a:r>
              <a:rPr lang="en-IN" sz="3200" dirty="0">
                <a:latin typeface="Times New Roman" panose="02020603050405020304" pitchFamily="18" charset="0"/>
                <a:cs typeface="Times New Roman" panose="02020603050405020304" pitchFamily="18" charset="0"/>
              </a:rPr>
              <a:t>  Abstract</a:t>
            </a:r>
            <a:endParaRPr sz="3200" dirty="0">
              <a:latin typeface="Times New Roman" panose="02020603050405020304" pitchFamily="18" charset="0"/>
              <a:cs typeface="Times New Roman" panose="02020603050405020304" pitchFamily="18" charset="0"/>
            </a:endParaRPr>
          </a:p>
        </p:txBody>
      </p:sp>
      <p:sp>
        <p:nvSpPr>
          <p:cNvPr id="2" name="Subtitle 1">
            <a:extLst>
              <a:ext uri="{FF2B5EF4-FFF2-40B4-BE49-F238E27FC236}">
                <a16:creationId xmlns:a16="http://schemas.microsoft.com/office/drawing/2014/main" id="{F66B1957-FC10-389A-B6A2-E1544B8FB1FD}"/>
              </a:ext>
            </a:extLst>
          </p:cNvPr>
          <p:cNvSpPr>
            <a:spLocks noGrp="1" noChangeArrowheads="1"/>
          </p:cNvSpPr>
          <p:nvPr>
            <p:ph type="subTitle" idx="1"/>
          </p:nvPr>
        </p:nvSpPr>
        <p:spPr bwMode="auto">
          <a:xfrm>
            <a:off x="489389" y="1183770"/>
            <a:ext cx="9950011" cy="449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spcFirstLastPara="1" vert="horz" wrap="square" lIns="91440" tIns="45720" rIns="91440" bIns="45720" numCol="1" anchor="ctr" anchorCtr="0" compatLnSpc="1">
            <a:prstTxWarp prst="textNoShape">
              <a:avLst/>
            </a:prstTxWarp>
            <a:spAutoFit/>
          </a:bodyPr>
          <a:lstStyle/>
          <a:p>
            <a:r>
              <a:rPr lang="en-US" sz="1600" dirty="0">
                <a:latin typeface="Times New Roman" panose="02020603050405020304" pitchFamily="18" charset="0"/>
                <a:cs typeface="Times New Roman" panose="02020603050405020304" pitchFamily="18" charset="0"/>
              </a:rPr>
              <a:t>Artificial intelligence models, especially large-scale deep learning systems, require enormous computational resources for training and execution. This leads to high electricity consumption, much of which is generated from carbon-intensive sources like coal and natural gas, significantly contributing to global carbon emissions and environmental degradation.</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This research introduces the concept of carbon-aware scheduling as an effective solution to this problem. Instead of executing tasks immediately, the system monitors the carbon intensity of the electricity grid in real time and decides whether to run, delay, or pause workloads accordingly. When the grid is powered by cleaner energy sources such as wind or solar, tasks are executed. During periods of high carbon intensity, tasks are temporarily paused using checkpointing, ensuring no loss of progress.</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By aligning computational workloads with cleaner energy availability, the system achieves a reduction in carbon emissions of up to 25%, without changing the total energy consumed. This highlights that smarter timing, rather than reduced usage, can significantly lower environmental impact. Overall, the approach provides a practical, scalable, and cost-effective solution for making AI systems more sustainable.</a:t>
            </a:r>
          </a:p>
          <a:p>
            <a:pPr marL="0" indent="0" eaLnBrk="0" fontAlgn="base" hangingPunct="0">
              <a:lnSpc>
                <a:spcPct val="100000"/>
              </a:lnSpc>
              <a:spcBef>
                <a:spcPct val="0"/>
              </a:spcBef>
              <a:spcAft>
                <a:spcPct val="0"/>
              </a:spcAft>
              <a:buClrTx/>
              <a:buSzTx/>
              <a:buNone/>
            </a:pPr>
            <a:endParaRPr lang="en-US" altLang="en-US" sz="1600" dirty="0">
              <a:solidFill>
                <a:schemeClr val="tx1"/>
              </a:solidFill>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g342e7a972ef_1_3"/>
          <p:cNvSpPr txBox="1">
            <a:spLocks noGrp="1"/>
          </p:cNvSpPr>
          <p:nvPr>
            <p:ph type="title"/>
          </p:nvPr>
        </p:nvSpPr>
        <p:spPr>
          <a:xfrm>
            <a:off x="-371475" y="0"/>
            <a:ext cx="5486100" cy="914100"/>
          </a:xfrm>
          <a:prstGeom prst="rect">
            <a:avLst/>
          </a:prstGeom>
        </p:spPr>
        <p:txBody>
          <a:bodyPr spcFirstLastPara="1" wrap="square" lIns="0" tIns="0" rIns="0" bIns="0" anchor="ctr" anchorCtr="0">
            <a:noAutofit/>
          </a:bodyPr>
          <a:lstStyle/>
          <a:p>
            <a:pPr marL="457189" indent="457189"/>
            <a:r>
              <a:rPr lang="en-US" sz="3200" b="1" dirty="0">
                <a:latin typeface="Times New Roman" panose="02020603050405020304" pitchFamily="18" charset="0"/>
                <a:cs typeface="Times New Roman" panose="02020603050405020304" pitchFamily="18" charset="0"/>
              </a:rPr>
              <a:t>Introduction</a:t>
            </a:r>
            <a:endParaRPr sz="3200" b="1" dirty="0">
              <a:latin typeface="Times New Roman" panose="02020603050405020304" pitchFamily="18" charset="0"/>
              <a:cs typeface="Times New Roman" panose="02020603050405020304" pitchFamily="18" charset="0"/>
            </a:endParaRPr>
          </a:p>
        </p:txBody>
      </p:sp>
      <p:sp>
        <p:nvSpPr>
          <p:cNvPr id="4" name="Subtitle 3">
            <a:extLst>
              <a:ext uri="{FF2B5EF4-FFF2-40B4-BE49-F238E27FC236}">
                <a16:creationId xmlns:a16="http://schemas.microsoft.com/office/drawing/2014/main" id="{75B53498-92EC-6861-1EDF-FFF84A512568}"/>
              </a:ext>
            </a:extLst>
          </p:cNvPr>
          <p:cNvSpPr>
            <a:spLocks noGrp="1" noChangeArrowheads="1"/>
          </p:cNvSpPr>
          <p:nvPr>
            <p:ph type="subTitle" idx="1"/>
          </p:nvPr>
        </p:nvSpPr>
        <p:spPr bwMode="auto">
          <a:xfrm>
            <a:off x="388620" y="914103"/>
            <a:ext cx="10070973" cy="5283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spcFirstLastPara="1" vert="horz" wrap="square" lIns="91440" tIns="45720" rIns="91440" bIns="45720" numCol="1" anchor="ctr" anchorCtr="0" compatLnSpc="1">
            <a:prstTxWarp prst="textNoShape">
              <a:avLst/>
            </a:prstTxWarp>
            <a:spAutoFit/>
          </a:bodyPr>
          <a:lstStyle/>
          <a:p>
            <a:r>
              <a:rPr lang="en-US" sz="1600" dirty="0">
                <a:latin typeface="Times New Roman" panose="02020603050405020304" pitchFamily="18" charset="0"/>
                <a:cs typeface="Times New Roman" panose="02020603050405020304" pitchFamily="18" charset="0"/>
              </a:rPr>
              <a:t>Most modern computing systems are designed with a primary focus on performance and speed, meaning tasks are executed as soon as they are received, without considering the environmental impact of the energy being used. This approach can lead to higher carbon emissions, especially when the electricity powering these systems comes from fossil fuel–based sources.</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However, the carbon intensity of electricity is not constant throughout the day. It fluctuates depending on the availability of renewable energy sources such as solar and wind. For example, energy may be cleaner during sunny afternoons or windy periods, and more carbon-intensive during peak demand times or when renewables are unavailable.</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This research emphasizes that many AI and data-processing tasks are not time-sensitive and can be delayed without affecting overall outcomes. By identifying these flexible workloads, systems can schedule their execution during periods when cleaner energy is available.</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By shifting task execution to these low-carbon windows, the system significantly reduces overall carbon emissions while maintaining efficiency, demonstrating that smarter scheduling can balance performance with environmental responsibility.</a:t>
            </a:r>
          </a:p>
          <a:p>
            <a:pPr marL="0" indent="0" eaLnBrk="0" fontAlgn="base" hangingPunct="0">
              <a:lnSpc>
                <a:spcPct val="100000"/>
              </a:lnSpc>
              <a:spcBef>
                <a:spcPct val="0"/>
              </a:spcBef>
              <a:spcAft>
                <a:spcPct val="0"/>
              </a:spcAft>
              <a:buClrTx/>
              <a:buSzTx/>
              <a:buFontTx/>
              <a:buChar char="•"/>
            </a:pPr>
            <a:endParaRPr lang="en-US" altLang="en-US" sz="1600" dirty="0">
              <a:solidFill>
                <a:schemeClr val="tx1"/>
              </a:solidFill>
              <a:latin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g342e7a972ef_1_18"/>
          <p:cNvSpPr txBox="1">
            <a:spLocks noGrp="1"/>
          </p:cNvSpPr>
          <p:nvPr>
            <p:ph type="title"/>
          </p:nvPr>
        </p:nvSpPr>
        <p:spPr>
          <a:xfrm>
            <a:off x="466344" y="0"/>
            <a:ext cx="5486100" cy="914100"/>
          </a:xfrm>
          <a:prstGeom prst="rect">
            <a:avLst/>
          </a:prstGeom>
        </p:spPr>
        <p:txBody>
          <a:bodyPr spcFirstLastPara="1" wrap="square" lIns="0" tIns="0" rIns="0" bIns="0" anchor="ctr" anchorCtr="0">
            <a:noAutofit/>
          </a:bodyPr>
          <a:lstStyle/>
          <a:p>
            <a:r>
              <a:rPr lang="en-US" sz="3200" b="1" dirty="0">
                <a:latin typeface="Times New Roman" panose="02020603050405020304" pitchFamily="18" charset="0"/>
                <a:cs typeface="Times New Roman" panose="02020603050405020304" pitchFamily="18" charset="0"/>
              </a:rPr>
              <a:t>Core Concept</a:t>
            </a:r>
            <a:endParaRPr sz="3200" b="1"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CC0F67B3-79A0-FFE1-6EB0-C0C3FCDBFCD5}"/>
              </a:ext>
            </a:extLst>
          </p:cNvPr>
          <p:cNvSpPr>
            <a:spLocks noChangeArrowheads="1"/>
          </p:cNvSpPr>
          <p:nvPr/>
        </p:nvSpPr>
        <p:spPr bwMode="auto">
          <a:xfrm>
            <a:off x="466344" y="1316436"/>
            <a:ext cx="10113264"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core idea of this system is to align the execution of computational tasks with periods when the electricity grid is powered by cleaner energy sources such as solar, wind, or hydroelectric power. Instead of continuously running tasks regardless of energy conditions, the system actively monitors the grid’s carbon intensity in real time. When renewable energy is abundant and the carbon footprint is low, tasks are allowed to run. Conversely, when the grid relies more heavily on fossil fuels like coal or natural gas, the system pauses execution to avoid contributing to higher emissions.</a:t>
            </a:r>
            <a:b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b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approach introduces carbon intensity as an important scheduling factor, similar to traditional computing resources like CPU usage, memory availability, or network bandwidth. By treating environmental impact as a measurable and manageable constraint, the system can make more informed decisions about when to execute workloads.</a:t>
            </a:r>
            <a:b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b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As a result, scheduling becomes not only performance-driven but also environmentally responsible. This enables organizations to significantly reduce their carbon footprint without changing the amount of work performed, simply by optimizing when that work is done.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g342e7a972ef_1_25"/>
          <p:cNvSpPr txBox="1">
            <a:spLocks noGrp="1"/>
          </p:cNvSpPr>
          <p:nvPr>
            <p:ph type="title"/>
          </p:nvPr>
        </p:nvSpPr>
        <p:spPr>
          <a:xfrm>
            <a:off x="484632" y="-75299"/>
            <a:ext cx="5733600" cy="502623"/>
          </a:xfrm>
          <a:prstGeom prst="rect">
            <a:avLst/>
          </a:prstGeom>
        </p:spPr>
        <p:txBody>
          <a:bodyPr spcFirstLastPara="1" wrap="square" lIns="0" tIns="0" rIns="0" bIns="0" anchor="ctr" anchorCtr="0">
            <a:noAutofit/>
          </a:bodyPr>
          <a:lstStyle/>
          <a:p>
            <a:pPr indent="457189"/>
            <a:endParaRPr sz="3200" dirty="0">
              <a:latin typeface="Times New Roman" panose="02020603050405020304" pitchFamily="18" charset="0"/>
              <a:cs typeface="Times New Roman" panose="02020603050405020304" pitchFamily="18" charset="0"/>
            </a:endParaRPr>
          </a:p>
          <a:p>
            <a:pPr>
              <a:defRPr sz="2800" b="1">
                <a:latin typeface="Arial"/>
              </a:defRPr>
            </a:pPr>
            <a:r>
              <a:rPr lang="en-IN" sz="3200" dirty="0">
                <a:latin typeface="Times New Roman" panose="02020603050405020304" pitchFamily="18" charset="0"/>
                <a:cs typeface="Times New Roman" panose="02020603050405020304" pitchFamily="18" charset="0"/>
              </a:rPr>
              <a:t>Literature Review </a:t>
            </a:r>
            <a:endParaRPr sz="3200" dirty="0">
              <a:latin typeface="Times New Roman" panose="02020603050405020304" pitchFamily="18" charset="0"/>
              <a:cs typeface="Times New Roman" panose="02020603050405020304" pitchFamily="18" charset="0"/>
            </a:endParaRPr>
          </a:p>
        </p:txBody>
      </p:sp>
      <p:sp>
        <p:nvSpPr>
          <p:cNvPr id="125" name="Google Shape;125;g342e7a972ef_1_25"/>
          <p:cNvSpPr txBox="1">
            <a:spLocks noGrp="1"/>
          </p:cNvSpPr>
          <p:nvPr>
            <p:ph type="subTitle" idx="1"/>
          </p:nvPr>
        </p:nvSpPr>
        <p:spPr>
          <a:xfrm>
            <a:off x="1983319" y="5604933"/>
            <a:ext cx="7440083" cy="1371600"/>
          </a:xfrm>
          <a:prstGeom prst="rect">
            <a:avLst/>
          </a:prstGeom>
        </p:spPr>
        <p:txBody>
          <a:bodyPr spcFirstLastPara="1" wrap="square" lIns="0" tIns="0" rIns="0" bIns="0" anchor="ctr" anchorCtr="0">
            <a:noAutofit/>
          </a:bodyPr>
          <a:lstStyle/>
          <a:p>
            <a:pPr marL="0" indent="0">
              <a:lnSpc>
                <a:spcPct val="115000"/>
              </a:lnSpc>
              <a:spcBef>
                <a:spcPts val="1200"/>
              </a:spcBef>
              <a:buSzPts val="1100"/>
              <a:buNone/>
            </a:pPr>
            <a:br>
              <a:rPr dirty="0"/>
            </a:br>
            <a:r>
              <a:rPr lang="en-US" dirty="0"/>
              <a:t>    </a:t>
            </a:r>
            <a:br>
              <a:rPr dirty="0"/>
            </a:br>
            <a:br>
              <a:rPr sz="2400" dirty="0"/>
            </a:br>
            <a:br>
              <a:rPr sz="2400" dirty="0"/>
            </a:br>
            <a:endParaRPr dirty="0"/>
          </a:p>
        </p:txBody>
      </p:sp>
      <p:sp>
        <p:nvSpPr>
          <p:cNvPr id="3" name="Rectangle 2">
            <a:extLst>
              <a:ext uri="{FF2B5EF4-FFF2-40B4-BE49-F238E27FC236}">
                <a16:creationId xmlns:a16="http://schemas.microsoft.com/office/drawing/2014/main" id="{AE3717DB-2894-49D8-56E0-FEE3B69AEB29}"/>
              </a:ext>
            </a:extLst>
          </p:cNvPr>
          <p:cNvSpPr>
            <a:spLocks noChangeArrowheads="1"/>
          </p:cNvSpPr>
          <p:nvPr/>
        </p:nvSpPr>
        <p:spPr bwMode="auto">
          <a:xfrm>
            <a:off x="484632" y="1278947"/>
            <a:ext cx="9912096"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Traditional green computing approaches mainly focus on improving the energy efficiency of hardware components, such as designing low-power processors, optimizing cooling systems, or upgrading data center infrastructure. While these methods can reduce overall energy consumption, they often require significant financial investment and are not always feasible for smaller organizations or existing systems.</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In contrast, recent research has introduced the concept of carbon-aware computing, which shifts the focus from how much energy is consumed to when that energy is used. Since the carbon intensity of electricity varies throughout the day, adjusting the timing of computational tasks can significantly reduce emissions without reducing performance capacity.</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However, many existing carbon-aware solutions are complex, involving advanced optimization models or requiring deep system integration, making them difficult to implement in real-world scenarios. This study addresses that challenge by proposing a simplified approach based on basic rule-based logic and real-time carbon data. By doing so, it makes carbon-aware scheduling more practical, cost-effective, and accessible for a wide range of users and organizations.</a:t>
            </a:r>
          </a:p>
          <a:p>
            <a:pPr eaLnBrk="0" fontAlgn="base" hangingPunct="0">
              <a:spcBef>
                <a:spcPct val="0"/>
              </a:spcBef>
              <a:spcAft>
                <a:spcPct val="0"/>
              </a:spcAft>
              <a:buClrTx/>
              <a:buFontTx/>
              <a:buChar char="•"/>
            </a:pPr>
            <a:endParaRPr lang="en-US" altLang="en-US" sz="1600"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8" name="Title 7">
            <a:extLst>
              <a:ext uri="{FF2B5EF4-FFF2-40B4-BE49-F238E27FC236}">
                <a16:creationId xmlns:a16="http://schemas.microsoft.com/office/drawing/2014/main" id="{7C64DD3E-73C8-7E89-B614-EA824226C2A5}"/>
              </a:ext>
            </a:extLst>
          </p:cNvPr>
          <p:cNvSpPr>
            <a:spLocks noGrp="1"/>
          </p:cNvSpPr>
          <p:nvPr>
            <p:ph type="title"/>
          </p:nvPr>
        </p:nvSpPr>
        <p:spPr>
          <a:xfrm>
            <a:off x="374904" y="0"/>
            <a:ext cx="7314720" cy="914040"/>
          </a:xfrm>
        </p:spPr>
        <p:txBody>
          <a:bodyPr/>
          <a:lstStyle/>
          <a:p>
            <a:r>
              <a:rPr lang="en-US" sz="3200" b="1" dirty="0">
                <a:latin typeface="Times New Roman" panose="02020603050405020304" pitchFamily="18" charset="0"/>
                <a:cs typeface="Times New Roman" panose="02020603050405020304" pitchFamily="18" charset="0"/>
              </a:rPr>
              <a:t>Methodology</a:t>
            </a:r>
            <a:endParaRPr lang="en-IN" sz="3200" b="1"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2A3F2F5A-BABF-3CCD-5C0A-DF645973792F}"/>
              </a:ext>
            </a:extLst>
          </p:cNvPr>
          <p:cNvSpPr txBox="1"/>
          <p:nvPr/>
        </p:nvSpPr>
        <p:spPr>
          <a:xfrm>
            <a:off x="374904" y="1682145"/>
            <a:ext cx="10003536" cy="378565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The system operates by continuously collecting real-time carbon intensity data from the </a:t>
            </a:r>
            <a:r>
              <a:rPr lang="en-US" sz="1600" dirty="0" err="1">
                <a:latin typeface="Times New Roman" panose="02020603050405020304" pitchFamily="18" charset="0"/>
                <a:cs typeface="Times New Roman" panose="02020603050405020304" pitchFamily="18" charset="0"/>
              </a:rPr>
              <a:t>WattTime</a:t>
            </a:r>
            <a:r>
              <a:rPr lang="en-US" sz="1600" dirty="0">
                <a:latin typeface="Times New Roman" panose="02020603050405020304" pitchFamily="18" charset="0"/>
                <a:cs typeface="Times New Roman" panose="02020603050405020304" pitchFamily="18" charset="0"/>
              </a:rPr>
              <a:t> API, which provides a key metric known as MOER (Marginal Operating Emissions Rate). This metric represents the amount of additional carbon emissions produced for each extra unit of electricity consumed at a given moment, effectively acting as a real-time indicator of how “clean” or “dirty” the grid is.</a:t>
            </a:r>
          </a:p>
          <a:p>
            <a:pPr>
              <a:buNone/>
            </a:pPr>
            <a:endParaRPr lang="en-US" sz="1600" dirty="0">
              <a:latin typeface="Times New Roman" panose="02020603050405020304" pitchFamily="18" charset="0"/>
              <a:cs typeface="Times New Roman" panose="02020603050405020304" pitchFamily="18" charset="0"/>
            </a:endParaRPr>
          </a:p>
          <a:p>
            <a:pPr>
              <a:buNone/>
            </a:pP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Using this data, the scheduler follows a simple rule-based approach. When the MOER value is low—indicating that the grid is powered largely by renewable energy sources—the system allows tasks to run. When the MOER value rises, signaling higher reliance on fossil fuels, the system pauses execution to avoid unnecessary emissions.</a:t>
            </a:r>
          </a:p>
          <a:p>
            <a:pPr>
              <a:buNone/>
            </a:pPr>
            <a:endParaRPr lang="en-US" sz="1600" dirty="0">
              <a:latin typeface="Times New Roman" panose="02020603050405020304" pitchFamily="18" charset="0"/>
              <a:cs typeface="Times New Roman" panose="02020603050405020304" pitchFamily="18" charset="0"/>
            </a:endParaRPr>
          </a:p>
          <a:p>
            <a:pPr>
              <a:buNone/>
            </a:pP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To ensure efficiency and prevent loss of work, the system </a:t>
            </a:r>
            <a:r>
              <a:rPr lang="en-US" sz="1600" dirty="0" err="1">
                <a:latin typeface="Times New Roman" panose="02020603050405020304" pitchFamily="18" charset="0"/>
                <a:cs typeface="Times New Roman" panose="02020603050405020304" pitchFamily="18" charset="0"/>
              </a:rPr>
              <a:t>useas</a:t>
            </a:r>
            <a:r>
              <a:rPr lang="en-US" sz="1600" dirty="0">
                <a:latin typeface="Times New Roman" panose="02020603050405020304" pitchFamily="18" charset="0"/>
                <a:cs typeface="Times New Roman" panose="02020603050405020304" pitchFamily="18" charset="0"/>
              </a:rPr>
              <a:t> a checkpointing mechanism. This allows tasks to save their current state before pausing and resume from the same point later, rather than restarting from the beginning. This combination of real-time data and simple logic makes the system both effective and practical for reducing carbon impact.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2D4D5-CC59-FA29-FB4A-062BFCEB95F1}"/>
              </a:ext>
            </a:extLst>
          </p:cNvPr>
          <p:cNvSpPr>
            <a:spLocks noGrp="1"/>
          </p:cNvSpPr>
          <p:nvPr>
            <p:ph type="title"/>
          </p:nvPr>
        </p:nvSpPr>
        <p:spPr>
          <a:xfrm>
            <a:off x="393192" y="-66675"/>
            <a:ext cx="6115051" cy="914040"/>
          </a:xfrm>
        </p:spPr>
        <p:txBody>
          <a:bodyPr/>
          <a:lstStyle/>
          <a:p>
            <a:r>
              <a:rPr lang="en-US" sz="3200" b="1" dirty="0">
                <a:latin typeface="Times New Roman" panose="02020603050405020304" pitchFamily="18" charset="0"/>
                <a:cs typeface="Times New Roman" panose="02020603050405020304" pitchFamily="18" charset="0"/>
              </a:rPr>
              <a:t>System Architecture</a:t>
            </a:r>
            <a:endParaRPr lang="en-IN" sz="3200" b="1"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DF07FC91-63A4-FF45-2924-4DFC7AB6B0F6}"/>
              </a:ext>
            </a:extLst>
          </p:cNvPr>
          <p:cNvSpPr txBox="1"/>
          <p:nvPr/>
        </p:nvSpPr>
        <p:spPr>
          <a:xfrm>
            <a:off x="393192" y="1466701"/>
            <a:ext cx="9985248" cy="378565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The system architecture follows a structured pipeline that integrates environmental awareness into every stage of task execution. It begins with task submission, where a user or system requests the execution of a computational workload. Once submitted, the system immediately retrieves real-time carbon intensity data from an external source, such as the </a:t>
            </a:r>
            <a:r>
              <a:rPr lang="en-US" sz="1600" dirty="0" err="1">
                <a:latin typeface="Times New Roman" panose="02020603050405020304" pitchFamily="18" charset="0"/>
                <a:cs typeface="Times New Roman" panose="02020603050405020304" pitchFamily="18" charset="0"/>
              </a:rPr>
              <a:t>WattTime</a:t>
            </a:r>
            <a:r>
              <a:rPr lang="en-US" sz="1600" dirty="0">
                <a:latin typeface="Times New Roman" panose="02020603050405020304" pitchFamily="18" charset="0"/>
                <a:cs typeface="Times New Roman" panose="02020603050405020304" pitchFamily="18" charset="0"/>
              </a:rPr>
              <a:t> API, to understand current grid conditions.</a:t>
            </a:r>
          </a:p>
          <a:p>
            <a:pPr>
              <a:buNone/>
            </a:pPr>
            <a:endParaRPr lang="en-US" sz="1600" dirty="0">
              <a:latin typeface="Times New Roman" panose="02020603050405020304" pitchFamily="18" charset="0"/>
              <a:cs typeface="Times New Roman" panose="02020603050405020304" pitchFamily="18" charset="0"/>
            </a:endParaRPr>
          </a:p>
          <a:p>
            <a:pPr>
              <a:buNone/>
            </a:pP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This data is then passed to the scheduler, which acts as the decision-making component. Based on predefined rules—such as whether the carbon intensity is low or high—the scheduler determines whether the task should begin execution, continue running, or be temporarily paused. When high-carbon conditions are detected, the system uses a checkpointing mechanism to save the current progress of the task, allowing it to resume later without restarting.</a:t>
            </a:r>
          </a:p>
          <a:p>
            <a:pPr>
              <a:buNone/>
            </a:pPr>
            <a:endParaRPr lang="en-US" sz="1600" dirty="0">
              <a:latin typeface="Times New Roman" panose="02020603050405020304" pitchFamily="18" charset="0"/>
              <a:cs typeface="Times New Roman" panose="02020603050405020304" pitchFamily="18" charset="0"/>
            </a:endParaRPr>
          </a:p>
          <a:p>
            <a:pPr>
              <a:buNone/>
            </a:pPr>
            <a:endParaRPr lang="en-US"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As the task executes, the system continuously monitors and records emissions by combining energy usage with carbon intensity data. This end-to-end pipeline ensures that tasks are executed efficiently while actively minimizing their environmental impact, achieving a balance between performance and sustainability.</a:t>
            </a:r>
          </a:p>
        </p:txBody>
      </p:sp>
    </p:spTree>
    <p:extLst>
      <p:ext uri="{BB962C8B-B14F-4D97-AF65-F5344CB8AC3E}">
        <p14:creationId xmlns:p14="http://schemas.microsoft.com/office/powerpoint/2010/main" val="23718280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6FFCA-0CA4-F439-7FDE-D1F35E390C21}"/>
              </a:ext>
            </a:extLst>
          </p:cNvPr>
          <p:cNvSpPr>
            <a:spLocks noGrp="1"/>
          </p:cNvSpPr>
          <p:nvPr>
            <p:ph type="title"/>
          </p:nvPr>
        </p:nvSpPr>
        <p:spPr>
          <a:xfrm>
            <a:off x="353537" y="0"/>
            <a:ext cx="6305551" cy="914040"/>
          </a:xfrm>
        </p:spPr>
        <p:txBody>
          <a:bodyPr/>
          <a:lstStyle/>
          <a:p>
            <a:r>
              <a:rPr lang="en-US" sz="3200" b="1" dirty="0">
                <a:latin typeface="Times New Roman" panose="02020603050405020304" pitchFamily="18" charset="0"/>
                <a:cs typeface="Times New Roman" panose="02020603050405020304" pitchFamily="18" charset="0"/>
              </a:rPr>
              <a:t>Results- Carbon Reduction</a:t>
            </a:r>
            <a:endParaRPr lang="en-IN" sz="3200" b="1" dirty="0">
              <a:latin typeface="Times New Roman" panose="02020603050405020304" pitchFamily="18" charset="0"/>
              <a:cs typeface="Times New Roman" panose="02020603050405020304" pitchFamily="18" charset="0"/>
            </a:endParaRPr>
          </a:p>
        </p:txBody>
      </p:sp>
      <p:sp>
        <p:nvSpPr>
          <p:cNvPr id="3" name="Rectangle 1">
            <a:extLst>
              <a:ext uri="{FF2B5EF4-FFF2-40B4-BE49-F238E27FC236}">
                <a16:creationId xmlns:a16="http://schemas.microsoft.com/office/drawing/2014/main" id="{1E5B6FB8-AC02-D5D5-A8F8-39917F4C1DEA}"/>
              </a:ext>
            </a:extLst>
          </p:cNvPr>
          <p:cNvSpPr>
            <a:spLocks noChangeArrowheads="1"/>
          </p:cNvSpPr>
          <p:nvPr/>
        </p:nvSpPr>
        <p:spPr bwMode="auto">
          <a:xfrm>
            <a:off x="353537" y="1244564"/>
            <a:ext cx="10403633"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implementation of the carbon-aware scheduler resulted in a substantial reduction in carbon emissions, achieving savings of approximately 22% to 25% compared to traditional scheduling methods. This improvement is particularly significant because it was achieved without altering the computational workload or requiring additional resources. Instead, the reduction comes purely from intelligently selecting when tasks are executed based on the carbon intensity of the electricity grid.</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8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These results clearly demonstrate that execution timing plays a crucial role in determining the environmental impact of computing systems. By shifting workloads to periods when cleaner energy sources are available, the system is able to minimize emissions while maintaining the same level of productivity.</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8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findings validate carbon-aware scheduling as a practical and effective strategy for reducing emissions in distributed computing environments. It shows that even simple, software-based changes can lead to meaningful environmental benefits, making this approach highly valuable for sustainable computing initiatives.</a:t>
            </a:r>
          </a:p>
        </p:txBody>
      </p:sp>
    </p:spTree>
    <p:extLst>
      <p:ext uri="{BB962C8B-B14F-4D97-AF65-F5344CB8AC3E}">
        <p14:creationId xmlns:p14="http://schemas.microsoft.com/office/powerpoint/2010/main" val="32378449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72C42-2AE7-1F28-A222-309C1B844E81}"/>
              </a:ext>
            </a:extLst>
          </p:cNvPr>
          <p:cNvSpPr>
            <a:spLocks noGrp="1"/>
          </p:cNvSpPr>
          <p:nvPr>
            <p:ph type="title"/>
          </p:nvPr>
        </p:nvSpPr>
        <p:spPr>
          <a:xfrm>
            <a:off x="448056" y="0"/>
            <a:ext cx="6197600" cy="914040"/>
          </a:xfrm>
        </p:spPr>
        <p:txBody>
          <a:bodyPr/>
          <a:lstStyle/>
          <a:p>
            <a:r>
              <a:rPr lang="en-IN" sz="3200" b="1" dirty="0">
                <a:latin typeface="Times New Roman" panose="02020603050405020304" pitchFamily="18" charset="0"/>
                <a:cs typeface="Times New Roman" panose="02020603050405020304" pitchFamily="18" charset="0"/>
              </a:rPr>
              <a:t>Result- Time Trade-off</a:t>
            </a:r>
          </a:p>
        </p:txBody>
      </p:sp>
      <p:sp>
        <p:nvSpPr>
          <p:cNvPr id="3" name="Rectangle 1">
            <a:extLst>
              <a:ext uri="{FF2B5EF4-FFF2-40B4-BE49-F238E27FC236}">
                <a16:creationId xmlns:a16="http://schemas.microsoft.com/office/drawing/2014/main" id="{6BBD7976-97AB-4AAA-6195-F2A390EDE3C8}"/>
              </a:ext>
            </a:extLst>
          </p:cNvPr>
          <p:cNvSpPr>
            <a:spLocks noChangeArrowheads="1"/>
          </p:cNvSpPr>
          <p:nvPr/>
        </p:nvSpPr>
        <p:spPr bwMode="auto">
          <a:xfrm>
            <a:off x="448056" y="1280143"/>
            <a:ext cx="9994392"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While the carbon-aware scheduling approach successfully reduces emissions, it introduces a noticeable trade-off in terms of execution time. Because tasks are paused during periods when the electricity grid relies heavily on fossil fuels, the overall completion time increases by approximately 30% to 35% compared to traditional, always-on execution.</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delay occurs because the system waits for cleaner energy conditions before continuing execution, effectively spreading the workload over a longer time period. However, this increase in duration does not affect the correctness or quality of the results - it only impacts how quickly the task is completed.</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key insight here is the balance between sustainability and performance. For many workloads, especially non-time-sensitive tasks like AI model training or batch processing, a moderate delay is acceptable. In return, the system achieves significant environmental benefits, demonstrating that small sacrifices in speed can lead to meaningful reductions in carbon impact without disrupting overall system functionality.</a:t>
            </a:r>
          </a:p>
        </p:txBody>
      </p:sp>
    </p:spTree>
    <p:extLst>
      <p:ext uri="{BB962C8B-B14F-4D97-AF65-F5344CB8AC3E}">
        <p14:creationId xmlns:p14="http://schemas.microsoft.com/office/powerpoint/2010/main" val="3360695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85FB192-5ACB-1199-7341-D0F8DAC12B04}"/>
              </a:ext>
            </a:extLst>
          </p:cNvPr>
          <p:cNvPicPr>
            <a:picLocks noChangeAspect="1"/>
          </p:cNvPicPr>
          <p:nvPr/>
        </p:nvPicPr>
        <p:blipFill>
          <a:blip r:embed="rId2"/>
          <a:stretch>
            <a:fillRect/>
          </a:stretch>
        </p:blipFill>
        <p:spPr>
          <a:xfrm>
            <a:off x="243828" y="1234435"/>
            <a:ext cx="5852172" cy="4389129"/>
          </a:xfrm>
          <a:prstGeom prst="rect">
            <a:avLst/>
          </a:prstGeom>
        </p:spPr>
      </p:pic>
      <p:pic>
        <p:nvPicPr>
          <p:cNvPr id="5" name="Picture 4">
            <a:extLst>
              <a:ext uri="{FF2B5EF4-FFF2-40B4-BE49-F238E27FC236}">
                <a16:creationId xmlns:a16="http://schemas.microsoft.com/office/drawing/2014/main" id="{AEEE5140-3BC4-901F-A2E4-1FD990BC2680}"/>
              </a:ext>
            </a:extLst>
          </p:cNvPr>
          <p:cNvPicPr>
            <a:picLocks noChangeAspect="1"/>
          </p:cNvPicPr>
          <p:nvPr/>
        </p:nvPicPr>
        <p:blipFill>
          <a:blip r:embed="rId3"/>
          <a:stretch>
            <a:fillRect/>
          </a:stretch>
        </p:blipFill>
        <p:spPr>
          <a:xfrm>
            <a:off x="6096000" y="1234435"/>
            <a:ext cx="5852172" cy="4389129"/>
          </a:xfrm>
          <a:prstGeom prst="rect">
            <a:avLst/>
          </a:prstGeom>
        </p:spPr>
      </p:pic>
      <p:sp>
        <p:nvSpPr>
          <p:cNvPr id="6" name="TextBox 5">
            <a:extLst>
              <a:ext uri="{FF2B5EF4-FFF2-40B4-BE49-F238E27FC236}">
                <a16:creationId xmlns:a16="http://schemas.microsoft.com/office/drawing/2014/main" id="{0177CF9C-68FB-1A1B-B21C-2EAE479BB9DE}"/>
              </a:ext>
            </a:extLst>
          </p:cNvPr>
          <p:cNvSpPr txBox="1"/>
          <p:nvPr/>
        </p:nvSpPr>
        <p:spPr>
          <a:xfrm>
            <a:off x="243828" y="91440"/>
            <a:ext cx="4745736"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Graph Demonstration</a:t>
            </a:r>
            <a:endParaRPr lang="en-IN"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071901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8F68B-DFD6-68C5-F683-9E2E69E957B3}"/>
              </a:ext>
            </a:extLst>
          </p:cNvPr>
          <p:cNvSpPr>
            <a:spLocks noGrp="1"/>
          </p:cNvSpPr>
          <p:nvPr>
            <p:ph type="title"/>
          </p:nvPr>
        </p:nvSpPr>
        <p:spPr>
          <a:xfrm>
            <a:off x="566928" y="0"/>
            <a:ext cx="7314720" cy="914040"/>
          </a:xfrm>
        </p:spPr>
        <p:txBody>
          <a:bodyPr/>
          <a:lstStyle/>
          <a:p>
            <a:r>
              <a:rPr lang="en-IN" sz="3200" b="1" dirty="0">
                <a:latin typeface="Times New Roman" panose="02020603050405020304" pitchFamily="18" charset="0"/>
                <a:cs typeface="Times New Roman" panose="02020603050405020304" pitchFamily="18" charset="0"/>
              </a:rPr>
              <a:t>Energy VS Carbon Insight</a:t>
            </a:r>
          </a:p>
        </p:txBody>
      </p:sp>
      <p:sp>
        <p:nvSpPr>
          <p:cNvPr id="3" name="Rectangle 1">
            <a:extLst>
              <a:ext uri="{FF2B5EF4-FFF2-40B4-BE49-F238E27FC236}">
                <a16:creationId xmlns:a16="http://schemas.microsoft.com/office/drawing/2014/main" id="{95997ABE-EB1E-4F70-F676-E486DB880DEA}"/>
              </a:ext>
            </a:extLst>
          </p:cNvPr>
          <p:cNvSpPr>
            <a:spLocks noChangeArrowheads="1"/>
          </p:cNvSpPr>
          <p:nvPr/>
        </p:nvSpPr>
        <p:spPr bwMode="auto">
          <a:xfrm>
            <a:off x="566928" y="1289288"/>
            <a:ext cx="996696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One of the most important findings of this research is that the total energy consumption of the system remained nearly the same in both traditional and carbon-aware scheduling approaches. In other words, the system did not reduce the amount of electricity used to complete tasks; instead, it changed the timing of when that energy was consumed.</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distinction is crucial because it shows that lowering carbon emissions does not necessarily require reducing computational activity or sacrificing performance. Rather, by strategically shifting workloads to periods when the electricity grid is powered by cleaner energy sources, the system can significantly reduce its environmental impact.</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insight highlights a more practical and scalable approach to sustainability. Instead of focusing solely on energy efficiency, organizations can optimize energy usage patterns, aligning computation with low-carbon energy availability. This makes carbon-aware scheduling an effective solution that balances operational needs with environmental responsibility.</a:t>
            </a:r>
          </a:p>
        </p:txBody>
      </p:sp>
    </p:spTree>
    <p:extLst>
      <p:ext uri="{BB962C8B-B14F-4D97-AF65-F5344CB8AC3E}">
        <p14:creationId xmlns:p14="http://schemas.microsoft.com/office/powerpoint/2010/main" val="34027388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5898B-7D69-3A81-8A99-29ED35FC7AC0}"/>
              </a:ext>
            </a:extLst>
          </p:cNvPr>
          <p:cNvSpPr>
            <a:spLocks noGrp="1"/>
          </p:cNvSpPr>
          <p:nvPr>
            <p:ph type="title"/>
          </p:nvPr>
        </p:nvSpPr>
        <p:spPr>
          <a:xfrm>
            <a:off x="546735" y="0"/>
            <a:ext cx="7314720" cy="914040"/>
          </a:xfrm>
        </p:spPr>
        <p:txBody>
          <a:bodyPr/>
          <a:lstStyle/>
          <a:p>
            <a:r>
              <a:rPr lang="en-US" sz="3200" b="1" dirty="0"/>
              <a:t>Conclusion</a:t>
            </a:r>
            <a:endParaRPr lang="en-IN" sz="3200" b="1" dirty="0"/>
          </a:p>
        </p:txBody>
      </p:sp>
      <p:sp>
        <p:nvSpPr>
          <p:cNvPr id="3" name="Rectangle 1">
            <a:extLst>
              <a:ext uri="{FF2B5EF4-FFF2-40B4-BE49-F238E27FC236}">
                <a16:creationId xmlns:a16="http://schemas.microsoft.com/office/drawing/2014/main" id="{BC2E7E47-05F1-86A0-038A-D416817DBB35}"/>
              </a:ext>
            </a:extLst>
          </p:cNvPr>
          <p:cNvSpPr>
            <a:spLocks noChangeArrowheads="1"/>
          </p:cNvSpPr>
          <p:nvPr/>
        </p:nvSpPr>
        <p:spPr bwMode="auto">
          <a:xfrm>
            <a:off x="546735" y="1468358"/>
            <a:ext cx="9886569"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research concludes that carbon-aware scheduling is a simple yet highly impactful approach to reducing carbon emissions in modern computing systems. Unlike traditional methods that rely on upgrading hardware or improving energy efficiency, this solution works entirely at the software level by changing when tasks are executed rather than how they are executed.</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Because it does not require new infrastructure, specialized equipment, or significant financial investment, it is both cost-effective and easy to implement across existing systems. This makes it especially attractive for organizations of all sizes, including those with limited resources.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Additionally, the approach is highly scalable, meaning it can be applied to small-scale systems as well as large distributed data centers. By integrating real-time carbon data into scheduling decisions, organizations can significantly reduce their environmental footprint while maintaining performance, making this a practical and accessible step toward sustainable computing.</a:t>
            </a:r>
          </a:p>
        </p:txBody>
      </p:sp>
    </p:spTree>
    <p:extLst>
      <p:ext uri="{BB962C8B-B14F-4D97-AF65-F5344CB8AC3E}">
        <p14:creationId xmlns:p14="http://schemas.microsoft.com/office/powerpoint/2010/main" val="2394451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DA78F-E147-EA68-EB6B-9221B3C39359}"/>
              </a:ext>
            </a:extLst>
          </p:cNvPr>
          <p:cNvSpPr>
            <a:spLocks noGrp="1"/>
          </p:cNvSpPr>
          <p:nvPr>
            <p:ph type="title"/>
          </p:nvPr>
        </p:nvSpPr>
        <p:spPr>
          <a:xfrm>
            <a:off x="630936" y="0"/>
            <a:ext cx="7314720" cy="914040"/>
          </a:xfrm>
        </p:spPr>
        <p:txBody>
          <a:bodyPr/>
          <a:lstStyle/>
          <a:p>
            <a:r>
              <a:rPr lang="en-US" sz="3200" b="1" dirty="0">
                <a:latin typeface="Times New Roman" panose="02020603050405020304" pitchFamily="18" charset="0"/>
                <a:cs typeface="Times New Roman" panose="02020603050405020304" pitchFamily="18" charset="0"/>
              </a:rPr>
              <a:t>Future Work</a:t>
            </a:r>
            <a:endParaRPr lang="en-IN" sz="3200" b="1" dirty="0">
              <a:latin typeface="Times New Roman" panose="02020603050405020304" pitchFamily="18" charset="0"/>
              <a:cs typeface="Times New Roman" panose="02020603050405020304" pitchFamily="18" charset="0"/>
            </a:endParaRPr>
          </a:p>
        </p:txBody>
      </p:sp>
      <p:sp>
        <p:nvSpPr>
          <p:cNvPr id="3" name="Rectangle 1">
            <a:extLst>
              <a:ext uri="{FF2B5EF4-FFF2-40B4-BE49-F238E27FC236}">
                <a16:creationId xmlns:a16="http://schemas.microsoft.com/office/drawing/2014/main" id="{8A235079-2736-A71F-E943-70699DFCCA6A}"/>
              </a:ext>
            </a:extLst>
          </p:cNvPr>
          <p:cNvSpPr>
            <a:spLocks noChangeArrowheads="1"/>
          </p:cNvSpPr>
          <p:nvPr/>
        </p:nvSpPr>
        <p:spPr bwMode="auto">
          <a:xfrm>
            <a:off x="630936" y="1215183"/>
            <a:ext cx="9779889" cy="477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Future improvements to this system aim to make carbon-aware scheduling more intelligent, predictive, and efficient. Currently, the system reacts to real-time carbon intensity data, making decisions based only on present grid conditions.</a:t>
            </a:r>
            <a:endParaRPr lang="en-US" altLang="en-US" sz="1600" dirty="0">
              <a:solidFill>
                <a:schemeClr val="tx1"/>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However, by integrating weather forecasting data, the system could anticipate future availability of renewable energy sources such as solar and wind. For example, it could predict when sunlight will be strongest or when wind speeds will be highest, allowing it to plan task execution in advance rather than reacting in the moment.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 addition, incorporating machine learning algorithms would further enhance the system’s capabilities. These models could analyze historical patterns of energy production, grid behavior, and workload demands to make more accurate predictions about low-carbon periods. As a result, the scheduler could optimize task timing more effectively, reducing unnecessary delays while maximizing carbon savings.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proactive approach would not only improve efficiency but also increase overall system reliability and performance. By planning ahead, the system can better balance execution time and environmental impact, making it smarter, more adaptive, and highly effective in promoting sustainable computing practices on a larger scale.</a:t>
            </a:r>
          </a:p>
        </p:txBody>
      </p:sp>
    </p:spTree>
    <p:extLst>
      <p:ext uri="{BB962C8B-B14F-4D97-AF65-F5344CB8AC3E}">
        <p14:creationId xmlns:p14="http://schemas.microsoft.com/office/powerpoint/2010/main" val="4175221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95722-1C35-AA43-E9FE-117FDDC5C89A}"/>
              </a:ext>
            </a:extLst>
          </p:cNvPr>
          <p:cNvSpPr>
            <a:spLocks noGrp="1"/>
          </p:cNvSpPr>
          <p:nvPr>
            <p:ph type="title"/>
          </p:nvPr>
        </p:nvSpPr>
        <p:spPr>
          <a:xfrm>
            <a:off x="466344" y="0"/>
            <a:ext cx="7314720" cy="914040"/>
          </a:xfrm>
        </p:spPr>
        <p:txBody>
          <a:bodyPr/>
          <a:lstStyle/>
          <a:p>
            <a:r>
              <a:rPr lang="en-US" sz="3200" b="1" dirty="0">
                <a:latin typeface="Times New Roman" panose="02020603050405020304" pitchFamily="18" charset="0"/>
                <a:cs typeface="Times New Roman" panose="02020603050405020304" pitchFamily="18" charset="0"/>
              </a:rPr>
              <a:t>References</a:t>
            </a:r>
            <a:endParaRPr lang="en-IN" sz="3200" b="1"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321D486C-1523-7121-8BB1-4C0A6C1E1EA4}"/>
              </a:ext>
            </a:extLst>
          </p:cNvPr>
          <p:cNvSpPr txBox="1"/>
          <p:nvPr/>
        </p:nvSpPr>
        <p:spPr>
          <a:xfrm>
            <a:off x="126872" y="1372540"/>
            <a:ext cx="10236327" cy="4321696"/>
          </a:xfrm>
          <a:prstGeom prst="rect">
            <a:avLst/>
          </a:prstGeom>
          <a:noFill/>
        </p:spPr>
        <p:txBody>
          <a:bodyPr wrap="square">
            <a:spAutoFit/>
          </a:bodyPr>
          <a:lstStyle/>
          <a:p>
            <a:pPr marL="457200">
              <a:lnSpc>
                <a:spcPct val="115000"/>
              </a:lnSpc>
              <a:buNone/>
            </a:pP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[1] C. Romero and S. Ventura, “Educational Data Mining: A Review of the State of the Art,” IEEE Transactions, 2013.</a:t>
            </a: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[2] R. </a:t>
            </a:r>
            <a:r>
              <a:rPr lang="en-IN" sz="1600" dirty="0" err="1">
                <a:effectLst/>
                <a:latin typeface="Times New Roman" panose="02020603050405020304" pitchFamily="18" charset="0"/>
                <a:ea typeface="Times New Roman" panose="02020603050405020304" pitchFamily="18" charset="0"/>
                <a:cs typeface="Times New Roman" panose="02020603050405020304" pitchFamily="18" charset="0"/>
              </a:rPr>
              <a:t>Buyya</a:t>
            </a: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 et al., “Energy-Efficient Management of Data </a:t>
            </a:r>
            <a:r>
              <a:rPr lang="en-IN" sz="1600" dirty="0" err="1">
                <a:effectLst/>
                <a:latin typeface="Times New Roman" panose="02020603050405020304" pitchFamily="18" charset="0"/>
                <a:ea typeface="Times New Roman" panose="02020603050405020304" pitchFamily="18" charset="0"/>
                <a:cs typeface="Times New Roman" panose="02020603050405020304" pitchFamily="18" charset="0"/>
              </a:rPr>
              <a:t>Center</a:t>
            </a: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 Resources,” Future Generation Computer Systems,2010. </a:t>
            </a: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p>
            <a:pPr marL="457200">
              <a:lnSpc>
                <a:spcPct val="115000"/>
              </a:lnSpc>
              <a:buNone/>
            </a:pP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[3] L. Barroso and U. </a:t>
            </a:r>
            <a:r>
              <a:rPr lang="en-IN" sz="1600" dirty="0" err="1">
                <a:effectLst/>
                <a:latin typeface="Times New Roman" panose="02020603050405020304" pitchFamily="18" charset="0"/>
                <a:ea typeface="Times New Roman" panose="02020603050405020304" pitchFamily="18" charset="0"/>
                <a:cs typeface="Times New Roman" panose="02020603050405020304" pitchFamily="18" charset="0"/>
              </a:rPr>
              <a:t>Hölzle</a:t>
            </a: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 The </a:t>
            </a:r>
            <a:r>
              <a:rPr lang="en-IN" sz="1600" dirty="0" err="1">
                <a:effectLst/>
                <a:latin typeface="Times New Roman" panose="02020603050405020304" pitchFamily="18" charset="0"/>
                <a:ea typeface="Times New Roman" panose="02020603050405020304" pitchFamily="18" charset="0"/>
                <a:cs typeface="Times New Roman" panose="02020603050405020304" pitchFamily="18" charset="0"/>
              </a:rPr>
              <a:t>Datacenter</a:t>
            </a: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 as a Computer, Morgan &amp; Claypool, 2009. </a:t>
            </a: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p>
            <a:pPr marL="457200">
              <a:lnSpc>
                <a:spcPct val="115000"/>
              </a:lnSpc>
              <a:buNone/>
            </a:pP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[4] A. Qureshi et al., “Cutting the Electric Bill for Internet-Scale Systems,” ACM SIGCOMM, 2009. </a:t>
            </a: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b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b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p>
            <a:pPr marL="457200">
              <a:lnSpc>
                <a:spcPct val="115000"/>
              </a:lnSpc>
              <a:spcAft>
                <a:spcPts val="1000"/>
              </a:spcAft>
              <a:buNone/>
            </a:pP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[5] </a:t>
            </a:r>
            <a:r>
              <a:rPr lang="en-IN" sz="1600" dirty="0" err="1">
                <a:effectLst/>
                <a:latin typeface="Times New Roman" panose="02020603050405020304" pitchFamily="18" charset="0"/>
                <a:ea typeface="Times New Roman" panose="02020603050405020304" pitchFamily="18" charset="0"/>
                <a:cs typeface="Times New Roman" panose="02020603050405020304" pitchFamily="18" charset="0"/>
              </a:rPr>
              <a:t>WattTime</a:t>
            </a:r>
            <a:r>
              <a:rPr lang="en-IN" sz="1600" dirty="0">
                <a:effectLst/>
                <a:latin typeface="Times New Roman" panose="02020603050405020304" pitchFamily="18" charset="0"/>
                <a:ea typeface="Times New Roman" panose="02020603050405020304" pitchFamily="18" charset="0"/>
                <a:cs typeface="Times New Roman" panose="02020603050405020304" pitchFamily="18" charset="0"/>
              </a:rPr>
              <a:t>, “Real-Time Carbon Intensity Data,” [Online API Service].</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6601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9"/>
          <p:cNvSpPr txBox="1"/>
          <p:nvPr/>
        </p:nvSpPr>
        <p:spPr>
          <a:xfrm>
            <a:off x="2821582" y="2821582"/>
            <a:ext cx="6705599" cy="1410788"/>
          </a:xfrm>
          <a:prstGeom prst="rect">
            <a:avLst/>
          </a:prstGeom>
          <a:noFill/>
          <a:ln>
            <a:noFill/>
          </a:ln>
        </p:spPr>
        <p:txBody>
          <a:bodyPr spcFirstLastPara="1" wrap="square" lIns="91425" tIns="45700" rIns="91425" bIns="45700" anchor="ctr" anchorCtr="0">
            <a:noAutofit/>
          </a:bodyPr>
          <a:lstStyle/>
          <a:p>
            <a:pPr algn="ctr"/>
            <a:r>
              <a:rPr lang="en-US" sz="5400">
                <a:solidFill>
                  <a:schemeClr val="dk1"/>
                </a:solidFill>
                <a:latin typeface="Times New Roman"/>
                <a:ea typeface="Times New Roman"/>
                <a:cs typeface="Times New Roman"/>
                <a:sym typeface="Times New Roman"/>
              </a:rPr>
              <a:t>Thank You</a:t>
            </a:r>
            <a:endParaRPr sz="5400">
              <a:latin typeface="Times New Roman"/>
              <a:ea typeface="Times New Roman"/>
              <a:cs typeface="Times New Roman"/>
              <a:sym typeface="Times New Roman"/>
            </a:endParaRPr>
          </a:p>
        </p:txBody>
      </p:sp>
      <p:sp>
        <p:nvSpPr>
          <p:cNvPr id="198" name="Google Shape;198;p9"/>
          <p:cNvSpPr txBox="1"/>
          <p:nvPr/>
        </p:nvSpPr>
        <p:spPr>
          <a:xfrm>
            <a:off x="8077080" y="6356520"/>
            <a:ext cx="2133360" cy="364680"/>
          </a:xfrm>
          <a:prstGeom prst="rect">
            <a:avLst/>
          </a:prstGeom>
          <a:noFill/>
          <a:ln>
            <a:noFill/>
          </a:ln>
        </p:spPr>
        <p:txBody>
          <a:bodyPr spcFirstLastPara="1" wrap="square" lIns="91425" tIns="45700" rIns="91425" bIns="45700" anchor="ctr" anchorCtr="0">
            <a:noAutofit/>
          </a:bodyPr>
          <a:lstStyle/>
          <a:p>
            <a:pPr algn="r"/>
            <a:fld id="{00000000-1234-1234-1234-123412341234}" type="slidenum">
              <a:rPr lang="en-US" sz="1200" b="1">
                <a:latin typeface="Calibri"/>
                <a:ea typeface="Calibri"/>
                <a:cs typeface="Calibri"/>
                <a:sym typeface="Calibri"/>
              </a:rPr>
              <a:pPr algn="r"/>
              <a:t>16</a:t>
            </a:fld>
            <a:endParaRPr sz="1200">
              <a:solidFill>
                <a:schemeClr val="dk1"/>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389</TotalTime>
  <Words>2474</Words>
  <Application>Microsoft Office PowerPoint</Application>
  <PresentationFormat>Widescreen</PresentationFormat>
  <Paragraphs>104</Paragraphs>
  <Slides>16</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Times New Roman</vt:lpstr>
      <vt:lpstr>Calibri</vt:lpstr>
      <vt:lpstr>Arial</vt:lpstr>
      <vt:lpstr>Office Theme</vt:lpstr>
      <vt:lpstr>PowerPoint Presentation</vt:lpstr>
      <vt:lpstr>PowerPoint Presentation</vt:lpstr>
      <vt:lpstr>  Abstract</vt:lpstr>
      <vt:lpstr>Introduction</vt:lpstr>
      <vt:lpstr>Core Concept</vt:lpstr>
      <vt:lpstr> Literature Review </vt:lpstr>
      <vt:lpstr>Methodology</vt:lpstr>
      <vt:lpstr>System Architecture</vt:lpstr>
      <vt:lpstr>Results- Carbon Reduction</vt:lpstr>
      <vt:lpstr>Result- Time Trade-off</vt:lpstr>
      <vt:lpstr>PowerPoint Presentation</vt:lpstr>
      <vt:lpstr>Energy VS Carbon Insight</vt:lpstr>
      <vt:lpstr>Conclusion</vt:lpstr>
      <vt:lpstr>Future Work</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ABC</dc:creator>
  <cp:lastModifiedBy>Diya Raina</cp:lastModifiedBy>
  <cp:revision>9</cp:revision>
  <dcterms:created xsi:type="dcterms:W3CDTF">2010-04-09T07:36:15Z</dcterms:created>
  <dcterms:modified xsi:type="dcterms:W3CDTF">2026-03-24T19:20:21Z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